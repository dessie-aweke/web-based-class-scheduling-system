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62" r:id="rId3"/>
    <p:sldId id="275" r:id="rId4"/>
    <p:sldId id="276" r:id="rId5"/>
    <p:sldId id="278" r:id="rId6"/>
    <p:sldId id="279" r:id="rId7"/>
    <p:sldId id="295" r:id="rId8"/>
    <p:sldId id="281" r:id="rId10"/>
    <p:sldId id="282" r:id="rId11"/>
    <p:sldId id="283" r:id="rId12"/>
    <p:sldId id="284" r:id="rId13"/>
    <p:sldId id="286" r:id="rId14"/>
    <p:sldId id="274" r:id="rId15"/>
    <p:sldId id="263" r:id="rId16"/>
    <p:sldId id="264" r:id="rId17"/>
    <p:sldId id="265" r:id="rId18"/>
    <p:sldId id="266" r:id="rId19"/>
    <p:sldId id="267" r:id="rId20"/>
    <p:sldId id="268" r:id="rId21"/>
    <p:sldId id="269" r:id="rId22"/>
    <p:sldId id="296" r:id="rId23"/>
    <p:sldId id="270" r:id="rId24"/>
    <p:sldId id="271" r:id="rId25"/>
    <p:sldId id="272" r:id="rId26"/>
    <p:sldId id="273" r:id="rId27"/>
    <p:sldId id="287" r:id="rId28"/>
    <p:sldId id="288" r:id="rId29"/>
    <p:sldId id="289" r:id="rId30"/>
    <p:sldId id="291" r:id="rId31"/>
    <p:sldId id="294" r:id="rId32"/>
    <p:sldId id="292" r:id="rId33"/>
    <p:sldId id="293" r:id="rId34"/>
    <p:sldId id="297" r:id="rId35"/>
    <p:sldId id="298" r:id="rId36"/>
    <p:sldId id="299" r:id="rId37"/>
    <p:sldId id="30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117" d="100"/>
          <a:sy n="117" d="100"/>
        </p:scale>
        <p:origin x="-102" y="-4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1"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27"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19" y="4074175"/>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903110" y="3429001"/>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93367" y="3429001"/>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
        <p:nvSpPr>
          <p:cNvPr id="4" name="Text Placeholder 3"/>
          <p:cNvSpPr>
            <a:spLocks noGrp="1"/>
          </p:cNvSpPr>
          <p:nvPr>
            <p:ph type="body" sz="half" idx="2"/>
          </p:nvPr>
        </p:nvSpPr>
        <p:spPr>
          <a:xfrm>
            <a:off x="1219200" y="3581401"/>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02616"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4" y="338667"/>
            <a:ext cx="5083527"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491112"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1"/>
            <a:ext cx="27432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6884896" y="6250165"/>
            <a:ext cx="5048920" cy="365125"/>
          </a:xfrm>
          <a:prstGeom prst="rect">
            <a:avLst/>
          </a:prstGeom>
        </p:spPr>
        <p:txBody>
          <a:bodyPr vert="horz" lIns="91440" tIns="45720" rIns="91440" bIns="45720" rtlCol="0" anchor="ctr"/>
          <a:lstStyle>
            <a:lvl1pPr algn="r">
              <a:defRPr sz="1000">
                <a:solidFill>
                  <a:schemeClr val="tx2"/>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258185" y="6250165"/>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1" y="6250164"/>
            <a:ext cx="1549101" cy="365125"/>
          </a:xfrm>
          <a:prstGeom prst="rect">
            <a:avLst/>
          </a:prstGeom>
        </p:spPr>
        <p:txBody>
          <a:bodyPr vert="horz" lIns="91440" tIns="45720" rIns="91440" bIns="45720" rtlCol="0" anchor="ctr"/>
          <a:lstStyle>
            <a:lvl1pPr algn="ctr">
              <a:defRPr sz="1000">
                <a:solidFill>
                  <a:schemeClr val="tx2"/>
                </a:solidFill>
              </a:defRPr>
            </a:lvl1pPr>
          </a:lstStyle>
          <a:p>
            <a:fld id="{9B618960-8005-486C-9A75-10CB2AAC16F9}" type="slidenum">
              <a:rPr lang="en-US" smtClean="0"/>
            </a:fld>
            <a:endParaRPr lang="en-US"/>
          </a:p>
        </p:txBody>
      </p:sp>
      <p:sp>
        <p:nvSpPr>
          <p:cNvPr id="3" name="Text Placeholder 2"/>
          <p:cNvSpPr>
            <a:spLocks noGrp="1"/>
          </p:cNvSpPr>
          <p:nvPr>
            <p:ph type="body" idx="1"/>
          </p:nvPr>
        </p:nvSpPr>
        <p:spPr>
          <a:xfrm>
            <a:off x="1162757" y="2675467"/>
            <a:ext cx="9877777" cy="3450696"/>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1028700" y="737870"/>
            <a:ext cx="6597650" cy="398780"/>
          </a:xfrm>
          <a:prstGeom prst="rect">
            <a:avLst/>
          </a:prstGeom>
          <a:noFill/>
        </p:spPr>
        <p:txBody>
          <a:bodyPr wrap="square" rtlCol="0">
            <a:spAutoFit/>
          </a:bodyPr>
          <a:lstStyle/>
          <a:p>
            <a:r>
              <a:rPr lang="en-US" altLang="en-GB" sz="2000"/>
              <a:t>   </a:t>
            </a:r>
            <a:r>
              <a:rPr lang="en-US" altLang="en-GB" sz="2000" b="1"/>
              <a:t> </a:t>
            </a:r>
            <a:endParaRPr lang="en-GB" altLang="en-US" sz="2400" b="1">
              <a:latin typeface="Times New Roman" panose="02020603050405020304" charset="0"/>
              <a:cs typeface="Times New Roman" panose="02020603050405020304" charset="0"/>
            </a:endParaRPr>
          </a:p>
        </p:txBody>
      </p:sp>
      <p:sp>
        <p:nvSpPr>
          <p:cNvPr id="11" name="Text Box 10"/>
          <p:cNvSpPr txBox="1"/>
          <p:nvPr/>
        </p:nvSpPr>
        <p:spPr>
          <a:xfrm>
            <a:off x="1138555" y="1029970"/>
            <a:ext cx="4978400" cy="527050"/>
          </a:xfrm>
          <a:prstGeom prst="rect">
            <a:avLst/>
          </a:prstGeom>
          <a:noFill/>
        </p:spPr>
        <p:txBody>
          <a:bodyPr wrap="square" rtlCol="0">
            <a:noAutofit/>
          </a:bodyPr>
          <a:lstStyle/>
          <a:p>
            <a:endParaRPr lang="en-US" altLang="en-GB" sz="2400" b="1">
              <a:latin typeface="Times New Roman" panose="02020603050405020304" charset="0"/>
              <a:cs typeface="Times New Roman" panose="02020603050405020304" charset="0"/>
            </a:endParaRPr>
          </a:p>
        </p:txBody>
      </p:sp>
      <p:sp>
        <p:nvSpPr>
          <p:cNvPr id="13" name="Text Box 12"/>
          <p:cNvSpPr txBox="1"/>
          <p:nvPr/>
        </p:nvSpPr>
        <p:spPr>
          <a:xfrm>
            <a:off x="1914525" y="2088515"/>
            <a:ext cx="8501380" cy="2190750"/>
          </a:xfrm>
          <a:prstGeom prst="rect">
            <a:avLst/>
          </a:prstGeom>
          <a:noFill/>
        </p:spPr>
        <p:txBody>
          <a:bodyPr wrap="square" rtlCol="0">
            <a:noAutofit/>
          </a:bodyPr>
          <a:lstStyle/>
          <a:p>
            <a:pPr indent="0">
              <a:buFont typeface="Arial" panose="020B0604020202020204" pitchFamily="34" charset="0"/>
              <a:buNone/>
            </a:pP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STUDENT NAME                    STUDENT ID </a:t>
            </a:r>
            <a:r>
              <a:rPr lang="en-GB" altLang="en-US" sz="2400">
                <a:latin typeface="Times New Roman" panose="02020603050405020304" charset="0"/>
                <a:cs typeface="Times New Roman" panose="02020603050405020304" charset="0"/>
              </a:rPr>
              <a:t>  </a:t>
            </a:r>
            <a:endParaRPr lang="en-GB" altLang="en-US" sz="2400">
              <a:latin typeface="Times New Roman" panose="02020603050405020304" charset="0"/>
              <a:cs typeface="Times New Roman" panose="02020603050405020304" charset="0"/>
            </a:endParaRPr>
          </a:p>
          <a:p>
            <a:pPr indent="0">
              <a:buFont typeface="Arial" panose="020B0604020202020204" pitchFamily="34" charset="0"/>
              <a:buNone/>
            </a:pP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1.Dessie Aweke…………………….14059134</a:t>
            </a:r>
            <a:endParaRPr lang="en-US" altLang="en-GB" sz="2400">
              <a:latin typeface="Times New Roman" panose="02020603050405020304" charset="0"/>
              <a:cs typeface="Times New Roman" panose="02020603050405020304" charset="0"/>
            </a:endParaRPr>
          </a:p>
          <a:p>
            <a:pPr indent="0">
              <a:buFont typeface="Arial" panose="020B0604020202020204" pitchFamily="34" charset="0"/>
              <a:buNone/>
            </a:pP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2.Yhalem Ayalu…………………….</a:t>
            </a:r>
            <a:r>
              <a:rPr lang="en-GB" altLang="en-US" sz="2400">
                <a:latin typeface="Times New Roman" panose="02020603050405020304" charset="0"/>
                <a:cs typeface="Times New Roman" panose="02020603050405020304" charset="0"/>
              </a:rPr>
              <a:t>..</a:t>
            </a:r>
            <a:r>
              <a:rPr lang="en-US" altLang="en-GB" sz="2400">
                <a:latin typeface="Times New Roman" panose="02020603050405020304" charset="0"/>
                <a:cs typeface="Times New Roman" panose="02020603050405020304" charset="0"/>
              </a:rPr>
              <a:t>1404472</a:t>
            </a:r>
            <a:endParaRPr lang="en-US" altLang="en-GB" sz="2400">
              <a:latin typeface="Times New Roman" panose="02020603050405020304" charset="0"/>
              <a:cs typeface="Times New Roman" panose="02020603050405020304" charset="0"/>
            </a:endParaRPr>
          </a:p>
          <a:p>
            <a:pPr indent="0">
              <a:buFont typeface="Arial" panose="020B0604020202020204" pitchFamily="34" charset="0"/>
              <a:buNone/>
            </a:pP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3.Shibesh Taddele…………………</a:t>
            </a:r>
            <a:r>
              <a:rPr lang="en-GB" altLang="en-US" sz="2400">
                <a:latin typeface="Times New Roman" panose="02020603050405020304" charset="0"/>
                <a:cs typeface="Times New Roman" panose="02020603050405020304" charset="0"/>
              </a:rPr>
              <a:t>...</a:t>
            </a:r>
            <a:r>
              <a:rPr lang="en-US" altLang="en-GB" sz="2400">
                <a:latin typeface="Times New Roman" panose="02020603050405020304" charset="0"/>
                <a:cs typeface="Times New Roman" panose="02020603050405020304" charset="0"/>
              </a:rPr>
              <a:t>1404221</a:t>
            </a:r>
            <a:endParaRPr lang="en-US" altLang="en-GB" sz="2400">
              <a:latin typeface="Times New Roman" panose="02020603050405020304" charset="0"/>
              <a:cs typeface="Times New Roman" panose="02020603050405020304" charset="0"/>
            </a:endParaRPr>
          </a:p>
          <a:p>
            <a:pPr indent="0">
              <a:buFont typeface="Arial" panose="020B0604020202020204" pitchFamily="34" charset="0"/>
              <a:buNone/>
            </a:pP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4.Eyerusalem Girmachew…………..</a:t>
            </a:r>
            <a:r>
              <a:rPr lang="en-GB" altLang="en-US" sz="2400">
                <a:latin typeface="Times New Roman" panose="02020603050405020304" charset="0"/>
                <a:cs typeface="Times New Roman" panose="02020603050405020304" charset="0"/>
              </a:rPr>
              <a:t>.</a:t>
            </a:r>
            <a:r>
              <a:rPr lang="en-US" altLang="en-GB" sz="2400">
                <a:latin typeface="Times New Roman" panose="02020603050405020304" charset="0"/>
                <a:cs typeface="Times New Roman" panose="02020603050405020304" charset="0"/>
              </a:rPr>
              <a:t>1403837</a:t>
            </a:r>
            <a:endParaRPr lang="en-US" altLang="en-GB" sz="2400">
              <a:latin typeface="Times New Roman" panose="02020603050405020304" charset="0"/>
              <a:cs typeface="Times New Roman" panose="02020603050405020304" charset="0"/>
            </a:endParaRPr>
          </a:p>
        </p:txBody>
      </p:sp>
      <p:sp>
        <p:nvSpPr>
          <p:cNvPr id="17" name="Text Box 16"/>
          <p:cNvSpPr txBox="1"/>
          <p:nvPr/>
        </p:nvSpPr>
        <p:spPr>
          <a:xfrm>
            <a:off x="1485900" y="1556385"/>
            <a:ext cx="9312910" cy="643255"/>
          </a:xfrm>
          <a:prstGeom prst="rect">
            <a:avLst/>
          </a:prstGeom>
          <a:noFill/>
        </p:spPr>
        <p:txBody>
          <a:bodyPr wrap="square" rtlCol="0">
            <a:noAutofit/>
          </a:bodyPr>
          <a:lstStyle/>
          <a:p>
            <a:r>
              <a:rPr lang="en-GB" altLang="en-US" sz="2400"/>
              <a:t>      </a:t>
            </a:r>
            <a:r>
              <a:rPr lang="en-US" altLang="en-GB" sz="2400" b="1"/>
              <a:t>Web Based Class Scheduling for DMU Burie Campus</a:t>
            </a:r>
            <a:endParaRPr lang="en-US" altLang="en-GB" sz="2400" b="1"/>
          </a:p>
        </p:txBody>
      </p:sp>
      <p:sp>
        <p:nvSpPr>
          <p:cNvPr id="22" name="Text Box 21"/>
          <p:cNvSpPr txBox="1"/>
          <p:nvPr/>
        </p:nvSpPr>
        <p:spPr>
          <a:xfrm>
            <a:off x="8105775" y="5022850"/>
            <a:ext cx="2529840" cy="560070"/>
          </a:xfrm>
          <a:prstGeom prst="rect">
            <a:avLst/>
          </a:prstGeom>
          <a:noFill/>
        </p:spPr>
        <p:txBody>
          <a:bodyPr wrap="square" rtlCol="0">
            <a:noAutofit/>
          </a:bodyPr>
          <a:lstStyle/>
          <a:p>
            <a:pPr indent="0">
              <a:buFont typeface="Arial" panose="020B0604020202020204" pitchFamily="34" charset="0"/>
              <a:buNone/>
            </a:pPr>
            <a:r>
              <a:rPr lang="en-US" altLang="en-GB" sz="2400" dirty="0">
                <a:latin typeface="Times New Roman" panose="02020603050405020304" charset="0"/>
                <a:cs typeface="Times New Roman" panose="02020603050405020304" charset="0"/>
              </a:rPr>
              <a:t> </a:t>
            </a:r>
            <a:r>
              <a:rPr lang="en-US" altLang="en-GB" sz="2400" dirty="0" smtClean="0">
                <a:latin typeface="Times New Roman" panose="02020603050405020304" charset="0"/>
                <a:cs typeface="Times New Roman" panose="02020603050405020304" charset="0"/>
              </a:rPr>
              <a:t>May/2025</a:t>
            </a:r>
            <a:endParaRPr lang="en-US" altLang="en-GB" sz="2400" dirty="0">
              <a:latin typeface="Times New Roman" panose="02020603050405020304" charset="0"/>
              <a:cs typeface="Times New Roman" panose="02020603050405020304" charset="0"/>
            </a:endParaRPr>
          </a:p>
        </p:txBody>
      </p:sp>
      <p:pic>
        <p:nvPicPr>
          <p:cNvPr id="26" name="Picture 1" descr="See related image detail. ☑️Debre Markos University — Academic Institution from Ethiopia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199255" y="67962"/>
            <a:ext cx="1598476" cy="1339816"/>
          </a:xfrm>
          <a:prstGeom prst="rect">
            <a:avLst/>
          </a:prstGeom>
          <a:noFill/>
          <a:ln>
            <a:noFill/>
          </a:ln>
        </p:spPr>
      </p:pic>
      <p:sp>
        <p:nvSpPr>
          <p:cNvPr id="28" name="Text Box 27"/>
          <p:cNvSpPr txBox="1"/>
          <p:nvPr/>
        </p:nvSpPr>
        <p:spPr>
          <a:xfrm>
            <a:off x="1847850" y="4547870"/>
            <a:ext cx="6007100" cy="460375"/>
          </a:xfrm>
          <a:prstGeom prst="rect">
            <a:avLst/>
          </a:prstGeom>
          <a:noFill/>
        </p:spPr>
        <p:txBody>
          <a:bodyPr wrap="square" rtlCol="0">
            <a:spAutoFit/>
          </a:bodyPr>
          <a:lstStyle/>
          <a:p>
            <a:r>
              <a:rPr lang="en-US" altLang="en-GB" sz="2400">
                <a:highlight>
                  <a:srgbClr val="C0C0C0"/>
                </a:highlight>
                <a:latin typeface="Times New Roman" panose="02020603050405020304" charset="0"/>
                <a:cs typeface="Times New Roman" panose="02020603050405020304" charset="0"/>
              </a:rPr>
              <a:t>ADVISOR</a:t>
            </a:r>
            <a:r>
              <a:rPr lang="en-GB" altLang="en-US" sz="2400">
                <a:highlight>
                  <a:srgbClr val="C0C0C0"/>
                </a:highlight>
                <a:latin typeface="Times New Roman" panose="02020603050405020304" charset="0"/>
                <a:cs typeface="Times New Roman" panose="02020603050405020304" charset="0"/>
              </a:rPr>
              <a:t> : </a:t>
            </a:r>
            <a:r>
              <a:rPr lang="en-US" altLang="en-GB" sz="2400">
                <a:highlight>
                  <a:srgbClr val="C0C0C0"/>
                </a:highlight>
                <a:latin typeface="Times New Roman" panose="02020603050405020304" charset="0"/>
                <a:cs typeface="Times New Roman" panose="02020603050405020304" charset="0"/>
              </a:rPr>
              <a:t>Mr. Andargie Mekonen(M.Sc)</a:t>
            </a:r>
            <a:endParaRPr lang="en-US" altLang="en-GB" sz="2400">
              <a:highlight>
                <a:srgbClr val="C0C0C0"/>
              </a:highlight>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81125" y="518795"/>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 Chapter one : Introduction</a:t>
            </a:r>
            <a:endParaRPr lang="en-US" altLang="en-GB" sz="2400" b="1">
              <a:latin typeface="Times New Roman" panose="02020603050405020304" charset="0"/>
              <a:cs typeface="Times New Roman" panose="02020603050405020304" charset="0"/>
            </a:endParaRPr>
          </a:p>
        </p:txBody>
      </p:sp>
      <p:sp>
        <p:nvSpPr>
          <p:cNvPr id="3" name="Text Box 2"/>
          <p:cNvSpPr txBox="1"/>
          <p:nvPr/>
        </p:nvSpPr>
        <p:spPr>
          <a:xfrm>
            <a:off x="1885950" y="97917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1. Introduction</a:t>
            </a:r>
            <a:endParaRPr lang="en-GB" altLang="en-US" sz="2400" b="1">
              <a:latin typeface="Times New Roman" panose="02020603050405020304" charset="0"/>
              <a:cs typeface="Times New Roman" panose="02020603050405020304" charset="0"/>
            </a:endParaRPr>
          </a:p>
        </p:txBody>
      </p:sp>
      <p:sp>
        <p:nvSpPr>
          <p:cNvPr id="4" name="Text Box 3"/>
          <p:cNvSpPr txBox="1"/>
          <p:nvPr/>
        </p:nvSpPr>
        <p:spPr>
          <a:xfrm>
            <a:off x="1885950" y="1737995"/>
            <a:ext cx="7997825" cy="4524315"/>
          </a:xfrm>
          <a:prstGeom prst="rect">
            <a:avLst/>
          </a:prstGeom>
          <a:noFill/>
        </p:spPr>
        <p:txBody>
          <a:bodyPr wrap="square" rtlCol="0">
            <a:spAutoFit/>
          </a:bodyPr>
          <a:lstStyle/>
          <a:p>
            <a:pPr marL="285750" indent="-285750" algn="just">
              <a:buFont typeface="Arial" panose="020B0604020202020204" pitchFamily="34" charset="0"/>
              <a:buChar char="•"/>
            </a:pPr>
            <a:r>
              <a:rPr lang="en-US" altLang="en-GB" sz="2400" dirty="0" smtClean="0">
                <a:latin typeface="Times New Roman" panose="02020603050405020304" charset="0"/>
                <a:cs typeface="Times New Roman" panose="02020603050405020304" charset="0"/>
                <a:sym typeface="+mn-ea"/>
              </a:rPr>
              <a:t>which </a:t>
            </a:r>
            <a:r>
              <a:rPr lang="en-US" altLang="en-GB" sz="2400" dirty="0">
                <a:latin typeface="Times New Roman" panose="02020603050405020304" charset="0"/>
                <a:cs typeface="Times New Roman" panose="02020603050405020304" charset="0"/>
                <a:sym typeface="+mn-ea"/>
              </a:rPr>
              <a:t>ensures that courses, instructors, room and facilities are properly organized. However, our university still relies on manual scheduling methods,  </a:t>
            </a:r>
            <a:endParaRPr lang="en-US" altLang="en-GB" sz="2400" dirty="0">
              <a:latin typeface="Times New Roman" panose="02020603050405020304" charset="0"/>
              <a:cs typeface="Times New Roman" panose="02020603050405020304" charset="0"/>
              <a:sym typeface="+mn-ea"/>
            </a:endParaRPr>
          </a:p>
          <a:p>
            <a:pPr marL="285750" indent="-285750" algn="just">
              <a:buFont typeface="Arial" panose="020B0604020202020204" pitchFamily="34" charset="0"/>
              <a:buChar char="•"/>
            </a:pPr>
            <a:r>
              <a:rPr sz="2400" dirty="0">
                <a:latin typeface="Times New Roman" panose="02020603050405020304" charset="0"/>
                <a:cs typeface="Times New Roman" panose="02020603050405020304" charset="0"/>
                <a:sym typeface="+mn-ea"/>
              </a:rPr>
              <a:t>Managing academic schedules at DMU </a:t>
            </a:r>
            <a:r>
              <a:rPr sz="2400" dirty="0" err="1">
                <a:latin typeface="Times New Roman" panose="02020603050405020304" charset="0"/>
                <a:cs typeface="Times New Roman" panose="02020603050405020304" charset="0"/>
                <a:sym typeface="+mn-ea"/>
              </a:rPr>
              <a:t>Bure</a:t>
            </a:r>
            <a:r>
              <a:rPr sz="2400" dirty="0">
                <a:latin typeface="Times New Roman" panose="02020603050405020304" charset="0"/>
                <a:cs typeface="Times New Roman" panose="02020603050405020304" charset="0"/>
                <a:sym typeface="+mn-ea"/>
              </a:rPr>
              <a:t> Campus manually is inefficient.</a:t>
            </a:r>
            <a:endParaRPr sz="2400" dirty="0">
              <a:latin typeface="Times New Roman" panose="02020603050405020304" charset="0"/>
              <a:cs typeface="Times New Roman" panose="02020603050405020304" charset="0"/>
              <a:sym typeface="+mn-ea"/>
            </a:endParaRPr>
          </a:p>
          <a:p>
            <a:pPr marL="285750" indent="-285750" algn="just">
              <a:buFont typeface="Arial" panose="020B0604020202020204" pitchFamily="34" charset="0"/>
              <a:buChar char="•"/>
            </a:pPr>
            <a:r>
              <a:rPr sz="2400" dirty="0" smtClean="0">
                <a:latin typeface="Times New Roman" panose="02020603050405020304" charset="0"/>
                <a:cs typeface="Times New Roman" panose="02020603050405020304" charset="0"/>
                <a:sym typeface="+mn-ea"/>
              </a:rPr>
              <a:t>This project introduces </a:t>
            </a:r>
            <a:r>
              <a:rPr lang="en-US" sz="2400" dirty="0" smtClean="0">
                <a:latin typeface="Times New Roman" panose="02020603050405020304" charset="0"/>
                <a:cs typeface="Times New Roman" panose="02020603050405020304" charset="0"/>
                <a:sym typeface="+mn-ea"/>
              </a:rPr>
              <a:t>web based </a:t>
            </a:r>
            <a:r>
              <a:rPr sz="2400" dirty="0" smtClean="0">
                <a:latin typeface="Times New Roman" panose="02020603050405020304" charset="0"/>
                <a:cs typeface="Times New Roman" panose="02020603050405020304" charset="0"/>
                <a:sym typeface="+mn-ea"/>
              </a:rPr>
              <a:t>scheduling system to enhance efficiency, reduce errors, and improve academic planning</a:t>
            </a:r>
            <a:r>
              <a:rPr lang="en-US" sz="2400" dirty="0" smtClean="0">
                <a:latin typeface="Times New Roman" panose="02020603050405020304" charset="0"/>
                <a:cs typeface="Times New Roman" panose="02020603050405020304" charset="0"/>
                <a:sym typeface="+mn-ea"/>
              </a:rPr>
              <a:t> and make modern class </a:t>
            </a:r>
            <a:r>
              <a:rPr lang="en-US" sz="2400" dirty="0" err="1" smtClean="0">
                <a:latin typeface="Times New Roman" panose="02020603050405020304" charset="0"/>
                <a:cs typeface="Times New Roman" panose="02020603050405020304" charset="0"/>
                <a:sym typeface="+mn-ea"/>
              </a:rPr>
              <a:t>schaduling</a:t>
            </a:r>
            <a:r>
              <a:rPr lang="en-US" sz="2400" dirty="0" smtClean="0">
                <a:latin typeface="Times New Roman" panose="02020603050405020304" charset="0"/>
                <a:cs typeface="Times New Roman" panose="02020603050405020304" charset="0"/>
                <a:sym typeface="+mn-ea"/>
              </a:rPr>
              <a:t> system</a:t>
            </a:r>
            <a:endParaRPr lang="en-US" sz="2400" dirty="0" smtClean="0">
              <a:latin typeface="Times New Roman" panose="02020603050405020304" charset="0"/>
              <a:cs typeface="Times New Roman" panose="02020603050405020304" charset="0"/>
              <a:sym typeface="+mn-ea"/>
            </a:endParaRPr>
          </a:p>
          <a:p>
            <a:pPr marL="285750" indent="-285750">
              <a:buFont typeface="Arial" panose="020B0604020202020204" pitchFamily="34" charset="0"/>
              <a:buChar char="•"/>
            </a:pPr>
            <a:r>
              <a:rPr lang="en-US" sz="2400" dirty="0">
                <a:latin typeface="Times New Roman" panose="02020603050405020304" charset="0"/>
                <a:cs typeface="Times New Roman" panose="02020603050405020304" charset="0"/>
              </a:rPr>
              <a:t>Our project, "Web-Based Class Scheduling for DMU </a:t>
            </a:r>
            <a:r>
              <a:rPr lang="en-US" sz="2400" dirty="0" err="1">
                <a:latin typeface="Times New Roman" panose="02020603050405020304" charset="0"/>
                <a:cs typeface="Times New Roman" panose="02020603050405020304" charset="0"/>
              </a:rPr>
              <a:t>Bure</a:t>
            </a:r>
            <a:r>
              <a:rPr lang="en-US" sz="2400" dirty="0">
                <a:latin typeface="Times New Roman" panose="02020603050405020304" charset="0"/>
                <a:cs typeface="Times New Roman" panose="02020603050405020304" charset="0"/>
              </a:rPr>
              <a:t> Campus," introduces a modern, automated system to streamline this process.</a:t>
            </a:r>
            <a:endParaRPr lang="en-US" sz="2400" dirty="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sz="24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057275" y="585470"/>
            <a:ext cx="5130165"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1.2. Background of the project</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1590040" y="1214120"/>
            <a:ext cx="8329930" cy="4030345"/>
          </a:xfrm>
          <a:prstGeom prst="rect">
            <a:avLst/>
          </a:prstGeom>
          <a:noFill/>
        </p:spPr>
        <p:txBody>
          <a:bodyPr wrap="square" rtlCol="0">
            <a:noAutofit/>
          </a:bodyPr>
          <a:lstStyle/>
          <a:p>
            <a:pPr marL="800100" lvl="1" indent="-342900" algn="l">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DMU bure campus uses manual scheduling system, reliant on paper documents, spreadsheets, and physical communication between department heads, instructors and administrators .</a:t>
            </a:r>
            <a:endParaRPr lang="en-US" altLang="en-GB" sz="2400">
              <a:latin typeface="Times New Roman" panose="02020603050405020304" charset="0"/>
              <a:cs typeface="Times New Roman" panose="02020603050405020304" charset="0"/>
            </a:endParaRPr>
          </a:p>
          <a:p>
            <a:pPr marL="800100" lvl="1" indent="-342900" algn="l">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In this system, department heads gather course information in addition to instructor preferences and create class schedules by hand. These schedules are usually circulated via printed papers or notice boards which is not only cumbersome but time taking too.</a:t>
            </a:r>
            <a:endParaRPr lang="en-US" altLang="en-GB" sz="2400">
              <a:latin typeface="Times New Roman" panose="02020603050405020304" charset="0"/>
              <a:cs typeface="Times New Roman" panose="02020603050405020304" charset="0"/>
            </a:endParaRPr>
          </a:p>
          <a:p>
            <a:pPr marL="457200" lvl="1" indent="0" algn="l">
              <a:buNone/>
            </a:pP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47800" y="680720"/>
            <a:ext cx="4064000"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rPr>
              <a:t>1.3. </a:t>
            </a:r>
            <a:r>
              <a:rPr lang="en-US" altLang="en-GB" sz="2400" b="1">
                <a:latin typeface="Times New Roman" panose="02020603050405020304" charset="0"/>
                <a:cs typeface="Times New Roman" panose="02020603050405020304" charset="0"/>
              </a:rPr>
              <a:t>Problem Statement</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2066925" y="1509395"/>
            <a:ext cx="7759065" cy="3629660"/>
          </a:xfrm>
          <a:prstGeom prst="rect">
            <a:avLst/>
          </a:prstGeom>
          <a:noFill/>
        </p:spPr>
        <p:txBody>
          <a:bodyPr wrap="square" rtlCol="0">
            <a:noAutofit/>
          </a:bodyPr>
          <a:lstStyle/>
          <a:p>
            <a:pPr marL="342900" indent="-3429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Scheduling conflicts and double-booked rooms due to manual data entry.</a:t>
            </a:r>
            <a:endParaRPr lang="en-US" altLang="en-US"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Paper-based records are easily lost or misplaced.</a:t>
            </a:r>
            <a:endParaRPr lang="en-US" altLang="en-US"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Inconsistent information makes future reference difficult.</a:t>
            </a:r>
            <a:endParaRPr lang="en-US" altLang="en-US"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No centralized system for retrieving instructor and classroom details.</a:t>
            </a:r>
            <a:endParaRPr lang="en-US" altLang="en-US"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Manual scheduling takes significant effort and reduces efficiency.</a:t>
            </a:r>
            <a:endParaRPr lang="en-US" altLang="en-US" sz="24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04925" y="356869"/>
            <a:ext cx="4064000" cy="829945"/>
          </a:xfrm>
          <a:prstGeom prst="rect">
            <a:avLst/>
          </a:prstGeom>
          <a:noFill/>
        </p:spPr>
        <p:txBody>
          <a:bodyPr wrap="square" rtlCol="0">
            <a:spAutoFit/>
          </a:bodyPr>
          <a:lstStyle/>
          <a:p>
            <a:r>
              <a:rPr lang="en-US" altLang="en-GB" sz="2400" b="1" dirty="0">
                <a:latin typeface="Times New Roman" panose="02020603050405020304" charset="0"/>
                <a:cs typeface="Times New Roman" panose="02020603050405020304" charset="0"/>
              </a:rPr>
              <a:t>1.4. Objective of the project</a:t>
            </a:r>
            <a:endParaRPr lang="en-US" altLang="en-GB" sz="2400" b="1" dirty="0">
              <a:latin typeface="Times New Roman" panose="02020603050405020304" charset="0"/>
              <a:cs typeface="Times New Roman" panose="02020603050405020304" charset="0"/>
            </a:endParaRPr>
          </a:p>
          <a:p>
            <a:r>
              <a:rPr lang="en-US" altLang="en-GB" sz="2400" b="1" dirty="0">
                <a:latin typeface="Times New Roman" panose="02020603050405020304" charset="0"/>
                <a:cs typeface="Times New Roman" panose="02020603050405020304" charset="0"/>
              </a:rPr>
              <a:t>      1.4.1. General Objective</a:t>
            </a:r>
            <a:endParaRPr lang="en-US" altLang="en-GB" sz="2400" b="1" dirty="0">
              <a:latin typeface="Times New Roman" panose="02020603050405020304" charset="0"/>
              <a:cs typeface="Times New Roman" panose="02020603050405020304" charset="0"/>
            </a:endParaRPr>
          </a:p>
        </p:txBody>
      </p:sp>
      <p:sp>
        <p:nvSpPr>
          <p:cNvPr id="3" name="Text Box 2"/>
          <p:cNvSpPr txBox="1"/>
          <p:nvPr/>
        </p:nvSpPr>
        <p:spPr>
          <a:xfrm>
            <a:off x="1958068" y="1186906"/>
            <a:ext cx="7854315" cy="829945"/>
          </a:xfrm>
          <a:prstGeom prst="rect">
            <a:avLst/>
          </a:prstGeom>
          <a:noFill/>
        </p:spPr>
        <p:txBody>
          <a:bodyPr wrap="square" rtlCol="0">
            <a:spAutoFit/>
          </a:bodyPr>
          <a:lstStyle/>
          <a:p>
            <a:r>
              <a:rPr lang="en-US" altLang="en-GB" sz="2000" dirty="0">
                <a:latin typeface="Times New Roman" panose="02020603050405020304" charset="0"/>
                <a:cs typeface="Times New Roman" panose="02020603050405020304" charset="0"/>
              </a:rPr>
              <a:t>T</a:t>
            </a:r>
            <a:r>
              <a:rPr lang="en-US" altLang="en-GB" sz="2400" dirty="0">
                <a:latin typeface="Times New Roman" panose="02020603050405020304" charset="0"/>
                <a:cs typeface="Times New Roman" panose="02020603050405020304" charset="0"/>
              </a:rPr>
              <a:t>he general objective of this project is to develop Web based </a:t>
            </a:r>
            <a:r>
              <a:rPr lang="en-GB" altLang="en-US" sz="2400" dirty="0">
                <a:latin typeface="Times New Roman" panose="02020603050405020304" charset="0"/>
                <a:cs typeface="Times New Roman" panose="02020603050405020304" charset="0"/>
              </a:rPr>
              <a:t>    </a:t>
            </a:r>
            <a:r>
              <a:rPr lang="en-US" altLang="en-GB" sz="2400" dirty="0">
                <a:latin typeface="Times New Roman" panose="02020603050405020304" charset="0"/>
                <a:cs typeface="Times New Roman" panose="02020603050405020304" charset="0"/>
              </a:rPr>
              <a:t>class scheduling system for DMU </a:t>
            </a:r>
            <a:r>
              <a:rPr lang="en-US" altLang="en-GB" sz="2400" dirty="0" err="1">
                <a:latin typeface="Times New Roman" panose="02020603050405020304" charset="0"/>
                <a:cs typeface="Times New Roman" panose="02020603050405020304" charset="0"/>
              </a:rPr>
              <a:t>burie</a:t>
            </a:r>
            <a:r>
              <a:rPr lang="en-US" altLang="en-GB" sz="2400" dirty="0">
                <a:latin typeface="Times New Roman" panose="02020603050405020304" charset="0"/>
                <a:cs typeface="Times New Roman" panose="02020603050405020304" charset="0"/>
              </a:rPr>
              <a:t> campus.</a:t>
            </a:r>
            <a:endParaRPr lang="en-US" altLang="en-GB" sz="2400" dirty="0">
              <a:latin typeface="Times New Roman" panose="02020603050405020304" charset="0"/>
              <a:cs typeface="Times New Roman" panose="02020603050405020304" charset="0"/>
            </a:endParaRPr>
          </a:p>
        </p:txBody>
      </p:sp>
      <p:sp>
        <p:nvSpPr>
          <p:cNvPr id="4" name="Text Box 3"/>
          <p:cNvSpPr txBox="1"/>
          <p:nvPr/>
        </p:nvSpPr>
        <p:spPr>
          <a:xfrm>
            <a:off x="1533525" y="2128520"/>
            <a:ext cx="4064000" cy="460375"/>
          </a:xfrm>
          <a:prstGeom prst="rect">
            <a:avLst/>
          </a:prstGeom>
          <a:noFill/>
        </p:spPr>
        <p:txBody>
          <a:bodyPr wrap="square" rtlCol="0">
            <a:spAutoFit/>
          </a:bodyPr>
          <a:lstStyle/>
          <a:p>
            <a:r>
              <a:rPr lang="en-US" altLang="en-GB"/>
              <a:t>  </a:t>
            </a:r>
            <a:r>
              <a:rPr lang="en-US" altLang="en-GB" sz="2400" b="1">
                <a:latin typeface="Times New Roman" panose="02020603050405020304" charset="0"/>
                <a:cs typeface="Times New Roman" panose="02020603050405020304" charset="0"/>
              </a:rPr>
              <a:t>1.4.2. Specific Objective</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2032000" y="2680970"/>
            <a:ext cx="7844790" cy="3290570"/>
          </a:xfrm>
          <a:prstGeom prst="rect">
            <a:avLst/>
          </a:prstGeom>
          <a:noFill/>
        </p:spPr>
        <p:txBody>
          <a:bodyPr wrap="square" rtlCol="0">
            <a:noAutofit/>
          </a:bodyPr>
          <a:lstStyle/>
          <a:p>
            <a:pPr marL="285750" indent="-285750">
              <a:buFont typeface="Arial" panose="020B0604020202020204" pitchFamily="34" charset="0"/>
              <a:buChar char="•"/>
            </a:pPr>
            <a:r>
              <a:rPr lang="en-US" sz="2400" dirty="0">
                <a:latin typeface="Times New Roman" panose="02020603050405020304" charset="0"/>
                <a:cs typeface="Times New Roman" panose="02020603050405020304" charset="0"/>
              </a:rPr>
              <a:t>Designing an interactive and user-friendly interface for seamless navigation and data entry. </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a:latin typeface="Times New Roman" panose="02020603050405020304" charset="0"/>
                <a:cs typeface="Times New Roman" panose="02020603050405020304" charset="0"/>
              </a:rPr>
              <a:t>To develop a system that delivers real-time and reliable scheduling information to enhance the efficiency of academic </a:t>
            </a:r>
            <a:r>
              <a:rPr lang="en-US" sz="2400" dirty="0" smtClean="0">
                <a:latin typeface="Times New Roman" panose="02020603050405020304" charset="0"/>
                <a:cs typeface="Times New Roman" panose="02020603050405020304" charset="0"/>
              </a:rPr>
              <a:t>class scheduling.</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Implement </a:t>
            </a:r>
            <a:r>
              <a:rPr lang="en-US" sz="2400" dirty="0">
                <a:latin typeface="Times New Roman" panose="02020603050405020304" charset="0"/>
                <a:cs typeface="Times New Roman" panose="02020603050405020304" charset="0"/>
              </a:rPr>
              <a:t>a centralized MySQL database for storing, accessing, and managing all class scheduling information effectively</a:t>
            </a:r>
            <a:r>
              <a:rPr lang="en-US" sz="2000" dirty="0" smtClean="0">
                <a:latin typeface="Times New Roman" panose="02020603050405020304" charset="0"/>
                <a:cs typeface="Times New Roman" panose="02020603050405020304" charset="0"/>
              </a:rPr>
              <a:t>. </a:t>
            </a:r>
            <a:endParaRPr lang="en-US" sz="2000" dirty="0" smtClean="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5950" y="1796143"/>
            <a:ext cx="7258050" cy="3291840"/>
          </a:xfrm>
          <a:prstGeom prst="rect">
            <a:avLst/>
          </a:prstGeom>
        </p:spPr>
        <p:txBody>
          <a:bodyPr wrap="square">
            <a:spAutoFit/>
          </a:bodyPr>
          <a:lstStyle/>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Protect scheduling data through user authentication and role-based access control</a:t>
            </a:r>
            <a:r>
              <a:rPr lang="en-US" altLang="en-GB" sz="2400" dirty="0" smtClean="0">
                <a:latin typeface="Times New Roman" panose="02020603050405020304" charset="0"/>
                <a:cs typeface="Times New Roman" panose="02020603050405020304" charset="0"/>
                <a:sym typeface="+mn-ea"/>
              </a:rPr>
              <a:t>.</a:t>
            </a:r>
            <a:endParaRPr lang="en-US" altLang="en-GB" sz="2400" dirty="0" smtClean="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GB" sz="2400" dirty="0" smtClean="0">
                <a:latin typeface="Times New Roman" panose="02020603050405020304" charset="0"/>
                <a:cs typeface="Times New Roman" panose="02020603050405020304" charset="0"/>
                <a:sym typeface="+mn-ea"/>
              </a:rPr>
              <a:t>Enable </a:t>
            </a:r>
            <a:r>
              <a:rPr lang="en-US" altLang="en-GB" sz="2400" dirty="0">
                <a:latin typeface="Times New Roman" panose="02020603050405020304" charset="0"/>
                <a:cs typeface="Times New Roman" panose="02020603050405020304" charset="0"/>
                <a:sym typeface="+mn-ea"/>
              </a:rPr>
              <a:t>quick access to room availability, instructor schedules, and course details.</a:t>
            </a:r>
            <a:endParaRPr lang="en-US" altLang="en-GB" sz="2400" dirty="0" smtClean="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 </a:t>
            </a:r>
            <a:r>
              <a:rPr lang="en-US" sz="2400" dirty="0">
                <a:latin typeface="Times New Roman" panose="02020603050405020304" charset="0"/>
                <a:cs typeface="Times New Roman" panose="02020603050405020304" charset="0"/>
              </a:rPr>
              <a:t>Designing a scalable system to accommodate future additions, such as new courses, departments, or academic periods</a:t>
            </a: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GB" sz="2000" dirty="0">
              <a:latin typeface="Times New Roman" panose="02020603050405020304" charset="0"/>
              <a:cs typeface="Times New Roman" panose="02020603050405020304" charset="0"/>
            </a:endParaRPr>
          </a:p>
          <a:p>
            <a:endParaRPr lang="en-US" altLang="en-GB" sz="2000" dirty="0">
              <a:latin typeface="Times New Roman" panose="02020603050405020304" charset="0"/>
              <a:cs typeface="Times New Roman" panose="02020603050405020304" charset="0"/>
            </a:endParaRPr>
          </a:p>
        </p:txBody>
      </p:sp>
      <p:sp>
        <p:nvSpPr>
          <p:cNvPr id="3" name="Text Box 1"/>
          <p:cNvSpPr txBox="1"/>
          <p:nvPr/>
        </p:nvSpPr>
        <p:spPr>
          <a:xfrm>
            <a:off x="1543050" y="823595"/>
            <a:ext cx="9542145" cy="720090"/>
          </a:xfrm>
          <a:prstGeom prst="rect">
            <a:avLst/>
          </a:prstGeom>
          <a:noFill/>
        </p:spPr>
        <p:txBody>
          <a:bodyPr wrap="square" rtlCol="0">
            <a:noAutofit/>
          </a:bodyPr>
          <a:lstStyle/>
          <a:p>
            <a:r>
              <a:rPr lang="en-US" sz="2400" dirty="0"/>
              <a:t>             </a:t>
            </a:r>
            <a:r>
              <a:rPr lang="en-US" sz="2400" dirty="0" smtClean="0"/>
              <a:t>               cont</a:t>
            </a:r>
            <a:r>
              <a:rPr lang="en-US" sz="2400" dirty="0"/>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962150" y="575945"/>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1.5. Scope of the project</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2286000" y="1461770"/>
            <a:ext cx="7510780" cy="1802765"/>
          </a:xfrm>
          <a:prstGeom prst="rect">
            <a:avLst/>
          </a:prstGeom>
          <a:noFill/>
        </p:spPr>
        <p:txBody>
          <a:bodyPr wrap="square" rtlCol="0">
            <a:no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Class scheduling for DMU burie campus.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View class scheduled.</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 The new system is going to perform storing data for:- </a:t>
            </a:r>
            <a:endParaRPr lang="en-GB" altLang="en-US" sz="2400">
              <a:latin typeface="Times New Roman" panose="02020603050405020304" charset="0"/>
              <a:cs typeface="Times New Roman" panose="02020603050405020304" charset="0"/>
            </a:endParaRPr>
          </a:p>
        </p:txBody>
      </p:sp>
      <p:sp>
        <p:nvSpPr>
          <p:cNvPr id="7" name="Text Box 6"/>
          <p:cNvSpPr txBox="1"/>
          <p:nvPr/>
        </p:nvSpPr>
        <p:spPr>
          <a:xfrm>
            <a:off x="2619375" y="2757170"/>
            <a:ext cx="6444615" cy="1925955"/>
          </a:xfrm>
          <a:prstGeom prst="rect">
            <a:avLst/>
          </a:prstGeom>
          <a:noFill/>
        </p:spPr>
        <p:txBody>
          <a:bodyPr wrap="square" rtlCol="0">
            <a:noAutofit/>
          </a:bodyPr>
          <a:lstStyle/>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sym typeface="+mn-ea"/>
              </a:rPr>
              <a:t>Offered courses of each department. </a:t>
            </a:r>
            <a:endParaRPr lang="en-US" altLang="en-GB" sz="2400">
              <a:latin typeface="Times New Roman" panose="02020603050405020304" charset="0"/>
              <a:cs typeface="Times New Roman" panose="02020603050405020304" charset="0"/>
            </a:endParaRPr>
          </a:p>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sym typeface="+mn-ea"/>
              </a:rPr>
              <a:t>Assigned instructors of each offered courses.</a:t>
            </a:r>
            <a:endParaRPr lang="en-US" altLang="en-GB" sz="2400">
              <a:latin typeface="Times New Roman" panose="02020603050405020304" charset="0"/>
              <a:cs typeface="Times New Roman" panose="02020603050405020304" charset="0"/>
            </a:endParaRPr>
          </a:p>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sym typeface="+mn-ea"/>
              </a:rPr>
              <a:t>Assigned class rooms. </a:t>
            </a:r>
            <a:endParaRPr lang="en-US" altLang="en-GB" sz="2400">
              <a:latin typeface="Times New Roman" panose="02020603050405020304" charset="0"/>
              <a:cs typeface="Times New Roman" panose="02020603050405020304" charset="0"/>
            </a:endParaRPr>
          </a:p>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sym typeface="+mn-ea"/>
              </a:rPr>
              <a:t>Allocated time (period) of each course</a:t>
            </a:r>
            <a:endParaRPr lang="en-US" altLang="en-GB" sz="2400">
              <a:latin typeface="Times New Roman" panose="02020603050405020304" charset="0"/>
              <a:cs typeface="Times New Roman" panose="02020603050405020304" charset="0"/>
            </a:endParaRPr>
          </a:p>
          <a:p>
            <a:pPr marL="342900" indent="-342900">
              <a:buFont typeface="Wingdings" panose="05000000000000000000" charset="0"/>
              <a:buChar char="ü"/>
            </a:pPr>
            <a:endParaRPr lang="en-GB" altLang="en-US" sz="2400">
              <a:latin typeface="Times New Roman" panose="02020603050405020304" charset="0"/>
              <a:cs typeface="Times New Roman" panose="02020603050405020304" charset="0"/>
            </a:endParaRPr>
          </a:p>
          <a:p>
            <a:endParaRPr lang="en-GB"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466850" y="337820"/>
            <a:ext cx="4064000" cy="460375"/>
          </a:xfrm>
          <a:prstGeom prst="rect">
            <a:avLst/>
          </a:prstGeom>
          <a:noFill/>
        </p:spPr>
        <p:txBody>
          <a:bodyPr wrap="square" rtlCol="0">
            <a:spAutoFit/>
          </a:bodyPr>
          <a:lstStyle/>
          <a:p>
            <a:r>
              <a:rPr lang="en-US" altLang="en-GB"/>
              <a:t> </a:t>
            </a:r>
            <a:r>
              <a:rPr lang="en-US" altLang="en-GB" sz="2400" b="1">
                <a:latin typeface="Times New Roman" panose="02020603050405020304" charset="0"/>
                <a:cs typeface="Times New Roman" panose="02020603050405020304" charset="0"/>
              </a:rPr>
              <a:t>1.6. Limitation of the project</a:t>
            </a:r>
            <a:endParaRPr lang="en-GB" altLang="en-US" sz="2400" b="1">
              <a:latin typeface="Times New Roman" panose="02020603050405020304" charset="0"/>
              <a:cs typeface="Times New Roman" panose="02020603050405020304" charset="0"/>
            </a:endParaRPr>
          </a:p>
        </p:txBody>
      </p:sp>
      <p:sp>
        <p:nvSpPr>
          <p:cNvPr id="5" name="Text Box 4"/>
          <p:cNvSpPr txBox="1"/>
          <p:nvPr/>
        </p:nvSpPr>
        <p:spPr>
          <a:xfrm>
            <a:off x="1894840" y="890270"/>
            <a:ext cx="6720840" cy="1235075"/>
          </a:xfrm>
          <a:prstGeom prst="rect">
            <a:avLst/>
          </a:prstGeom>
          <a:noFill/>
        </p:spPr>
        <p:txBody>
          <a:bodyPr wrap="square" rtlCol="0">
            <a:noAutofit/>
          </a:bodyPr>
          <a:lstStyle/>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The system is web-based only</a:t>
            </a:r>
            <a:endParaRPr lang="en-US" altLang="en-GB" sz="2400">
              <a:latin typeface="Times New Roman" panose="02020603050405020304" charset="0"/>
              <a:cs typeface="Times New Roman" panose="02020603050405020304" charset="0"/>
              <a:sym typeface="+mn-ea"/>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The system has not been deployed on a live server</a:t>
            </a:r>
            <a:endParaRPr lang="en-US" altLang="en-GB" sz="2400">
              <a:latin typeface="Times New Roman" panose="02020603050405020304" charset="0"/>
              <a:cs typeface="Times New Roman" panose="02020603050405020304" charset="0"/>
            </a:endParaRPr>
          </a:p>
          <a:p>
            <a:endParaRPr lang="en-GB" altLang="en-US" sz="2400">
              <a:latin typeface="Times New Roman" panose="02020603050405020304" charset="0"/>
              <a:cs typeface="Times New Roman" panose="02020603050405020304" charset="0"/>
            </a:endParaRPr>
          </a:p>
        </p:txBody>
      </p:sp>
      <p:sp>
        <p:nvSpPr>
          <p:cNvPr id="7" name="Text Box 6"/>
          <p:cNvSpPr txBox="1"/>
          <p:nvPr/>
        </p:nvSpPr>
        <p:spPr>
          <a:xfrm>
            <a:off x="1619250" y="1938020"/>
            <a:ext cx="4064000" cy="460375"/>
          </a:xfrm>
          <a:prstGeom prst="rect">
            <a:avLst/>
          </a:prstGeom>
          <a:noFill/>
        </p:spPr>
        <p:txBody>
          <a:bodyPr wrap="square" rtlCol="0">
            <a:spAutoFit/>
          </a:bodyPr>
          <a:lstStyle/>
          <a:p>
            <a:r>
              <a:rPr lang="en-US" altLang="en-GB" sz="2400" b="1" dirty="0" smtClean="0">
                <a:latin typeface="Times New Roman" panose="02020603050405020304" charset="0"/>
                <a:cs typeface="Times New Roman" panose="02020603050405020304" charset="0"/>
              </a:rPr>
              <a:t>1.7. significance of the project</a:t>
            </a:r>
            <a:endParaRPr lang="en-US" altLang="en-GB" sz="2400" b="1" dirty="0">
              <a:latin typeface="Times New Roman" panose="02020603050405020304" charset="0"/>
              <a:cs typeface="Times New Roman" panose="02020603050405020304" charset="0"/>
            </a:endParaRPr>
          </a:p>
        </p:txBody>
      </p:sp>
      <p:sp>
        <p:nvSpPr>
          <p:cNvPr id="9" name="Text Box 8"/>
          <p:cNvSpPr txBox="1"/>
          <p:nvPr/>
        </p:nvSpPr>
        <p:spPr>
          <a:xfrm>
            <a:off x="1971675" y="2528570"/>
            <a:ext cx="5986780"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sym typeface="+mn-ea"/>
              </a:rPr>
              <a:t>After implementing this system</a:t>
            </a:r>
            <a:endParaRPr lang="en-US" altLang="en-GB" sz="2400">
              <a:latin typeface="Times New Roman" panose="02020603050405020304" charset="0"/>
              <a:cs typeface="Times New Roman" panose="02020603050405020304" charset="0"/>
              <a:sym typeface="+mn-ea"/>
            </a:endParaRPr>
          </a:p>
        </p:txBody>
      </p:sp>
      <p:sp>
        <p:nvSpPr>
          <p:cNvPr id="10" name="Text Box 9"/>
          <p:cNvSpPr txBox="1"/>
          <p:nvPr/>
        </p:nvSpPr>
        <p:spPr>
          <a:xfrm>
            <a:off x="1971675" y="3119120"/>
            <a:ext cx="7187565" cy="2306955"/>
          </a:xfrm>
          <a:prstGeom prst="rect">
            <a:avLst/>
          </a:prstGeom>
          <a:noFill/>
        </p:spPr>
        <p:txBody>
          <a:bodyPr wrap="square" rtlCol="0">
            <a:spAutoFit/>
          </a:bodyPr>
          <a:lstStyle/>
          <a:p>
            <a:pPr marL="285750" lvl="0" indent="-285750">
              <a:buFont typeface="Arial" panose="020B0604020202020204" pitchFamily="34" charset="0"/>
              <a:buChar char="•"/>
            </a:pPr>
            <a:r>
              <a:rPr lang="en-US" altLang="en-GB" dirty="0">
                <a:sym typeface="+mn-ea"/>
              </a:rPr>
              <a:t> </a:t>
            </a:r>
            <a:r>
              <a:rPr lang="en-US" altLang="en-GB" sz="2400" dirty="0">
                <a:latin typeface="Times New Roman" panose="02020603050405020304" charset="0"/>
                <a:cs typeface="Times New Roman" panose="02020603050405020304" charset="0"/>
                <a:sym typeface="+mn-ea"/>
              </a:rPr>
              <a:t>it is very easy to schedule class.</a:t>
            </a:r>
            <a:endParaRPr lang="en-US" altLang="en-GB" sz="2400" dirty="0">
              <a:latin typeface="Times New Roman" panose="02020603050405020304" charset="0"/>
              <a:cs typeface="Times New Roman" panose="02020603050405020304" charset="0"/>
            </a:endParaRPr>
          </a:p>
          <a:p>
            <a:pPr marL="342900" lvl="0" indent="-342900">
              <a:buFont typeface="Arial" panose="020B0604020202020204" pitchFamily="34" charset="0"/>
              <a:buChar char="•"/>
            </a:pPr>
            <a:r>
              <a:rPr lang="en-GB" altLang="en-US" sz="2400" dirty="0">
                <a:latin typeface="Times New Roman" panose="02020603050405020304" charset="0"/>
                <a:cs typeface="Times New Roman" panose="02020603050405020304" charset="0"/>
                <a:sym typeface="+mn-ea"/>
              </a:rPr>
              <a:t>solve </a:t>
            </a:r>
            <a:r>
              <a:rPr lang="en-GB" altLang="en-US" sz="2400" dirty="0" smtClean="0">
                <a:latin typeface="Times New Roman" panose="02020603050405020304" charset="0"/>
                <a:cs typeface="Times New Roman" panose="02020603050405020304" charset="0"/>
                <a:sym typeface="+mn-ea"/>
              </a:rPr>
              <a:t>the </a:t>
            </a:r>
            <a:r>
              <a:rPr lang="en-GB" altLang="en-US" sz="2400" dirty="0">
                <a:latin typeface="Times New Roman" panose="02020603050405020304" charset="0"/>
                <a:cs typeface="Times New Roman" panose="02020603050405020304" charset="0"/>
                <a:sym typeface="+mn-ea"/>
              </a:rPr>
              <a:t>problem </a:t>
            </a:r>
            <a:r>
              <a:rPr lang="en-US" altLang="en-GB" sz="2400" dirty="0">
                <a:latin typeface="Times New Roman" panose="02020603050405020304" charset="0"/>
                <a:cs typeface="Times New Roman" panose="02020603050405020304" charset="0"/>
                <a:sym typeface="+mn-ea"/>
              </a:rPr>
              <a:t>time consuming and tiresome system </a:t>
            </a:r>
            <a:endParaRPr lang="en-US" altLang="en-GB" sz="2400" dirty="0">
              <a:latin typeface="Times New Roman" panose="02020603050405020304" charset="0"/>
              <a:cs typeface="Times New Roman" panose="02020603050405020304" charset="0"/>
              <a:sym typeface="+mn-ea"/>
            </a:endParaRPr>
          </a:p>
          <a:p>
            <a:pPr marL="342900" lvl="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it saves a lot of time and money,</a:t>
            </a:r>
            <a:endParaRPr lang="en-US" altLang="en-GB" sz="2400" dirty="0">
              <a:latin typeface="Times New Roman" panose="02020603050405020304" charset="0"/>
              <a:cs typeface="Times New Roman" panose="02020603050405020304" charset="0"/>
            </a:endParaRPr>
          </a:p>
          <a:p>
            <a:pPr marL="342900" lvl="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 scheduling is very fast and delays can be avoided and it helps the university in reducing cost </a:t>
            </a:r>
            <a:endParaRPr lang="en-GB" altLang="en-US" sz="240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696085" y="623570"/>
            <a:ext cx="4530090" cy="460375"/>
          </a:xfrm>
          <a:prstGeom prst="rect">
            <a:avLst/>
          </a:prstGeom>
          <a:noFill/>
        </p:spPr>
        <p:txBody>
          <a:bodyPr wrap="square" rtlCol="0">
            <a:spAutoFit/>
          </a:bodyPr>
          <a:lstStyle/>
          <a:p>
            <a:r>
              <a:rPr lang="en-US" altLang="en-GB" sz="2400" b="1" dirty="0">
                <a:latin typeface="Times New Roman" panose="02020603050405020304" charset="0"/>
                <a:cs typeface="Times New Roman" panose="02020603050405020304" charset="0"/>
              </a:rPr>
              <a:t>1.8. System requirements</a:t>
            </a:r>
            <a:endParaRPr lang="en-US" altLang="en-GB" sz="2400" b="1" dirty="0">
              <a:latin typeface="Times New Roman" panose="02020603050405020304" charset="0"/>
              <a:cs typeface="Times New Roman" panose="02020603050405020304" charset="0"/>
            </a:endParaRPr>
          </a:p>
        </p:txBody>
      </p:sp>
      <p:sp>
        <p:nvSpPr>
          <p:cNvPr id="6" name="Text Box 5"/>
          <p:cNvSpPr txBox="1"/>
          <p:nvPr/>
        </p:nvSpPr>
        <p:spPr>
          <a:xfrm>
            <a:off x="2162175" y="1102995"/>
            <a:ext cx="6797675" cy="829945"/>
          </a:xfrm>
          <a:prstGeom prst="rect">
            <a:avLst/>
          </a:prstGeom>
          <a:noFill/>
        </p:spPr>
        <p:txBody>
          <a:bodyPr wrap="square" rtlCol="0">
            <a:spAutoFit/>
          </a:bodyPr>
          <a:lstStyle/>
          <a:p>
            <a:r>
              <a:rPr lang="en-US" altLang="en-GB" sz="2400" dirty="0" smtClean="0">
                <a:latin typeface="Times New Roman" panose="02020603050405020304" charset="0"/>
                <a:cs typeface="Times New Roman" panose="02020603050405020304" charset="0"/>
              </a:rPr>
              <a:t>We </a:t>
            </a:r>
            <a:r>
              <a:rPr lang="en-US" altLang="en-GB" sz="2400" dirty="0">
                <a:latin typeface="Times New Roman" panose="02020603050405020304" charset="0"/>
                <a:cs typeface="Times New Roman" panose="02020603050405020304" charset="0"/>
              </a:rPr>
              <a:t>use different type of software and hardware to develop our project</a:t>
            </a:r>
            <a:endParaRPr lang="en-US" altLang="en-GB" sz="2400" dirty="0">
              <a:latin typeface="Times New Roman" panose="02020603050405020304" charset="0"/>
              <a:cs typeface="Times New Roman" panose="02020603050405020304" charset="0"/>
            </a:endParaRPr>
          </a:p>
        </p:txBody>
      </p:sp>
      <p:sp>
        <p:nvSpPr>
          <p:cNvPr id="7" name="Text Box 6"/>
          <p:cNvSpPr txBox="1"/>
          <p:nvPr/>
        </p:nvSpPr>
        <p:spPr>
          <a:xfrm>
            <a:off x="1696085" y="1932940"/>
            <a:ext cx="4064000" cy="460375"/>
          </a:xfrm>
          <a:prstGeom prst="rect">
            <a:avLst/>
          </a:prstGeom>
          <a:noFill/>
        </p:spPr>
        <p:txBody>
          <a:bodyPr wrap="square" rtlCol="0">
            <a:spAutoFit/>
          </a:bodyPr>
          <a:lstStyle/>
          <a:p>
            <a:r>
              <a:rPr lang="en-US" altLang="en-GB" sz="2400" b="1" dirty="0">
                <a:latin typeface="Times New Roman" panose="02020603050405020304" charset="0"/>
                <a:cs typeface="Times New Roman" panose="02020603050405020304" charset="0"/>
              </a:rPr>
              <a:t>1.8.1.  Hardware requirement</a:t>
            </a:r>
            <a:endParaRPr lang="en-US" altLang="en-GB" sz="2400" b="1" dirty="0">
              <a:latin typeface="Times New Roman" panose="02020603050405020304" charset="0"/>
              <a:cs typeface="Times New Roman" panose="02020603050405020304" charset="0"/>
            </a:endParaRPr>
          </a:p>
        </p:txBody>
      </p:sp>
      <p:sp>
        <p:nvSpPr>
          <p:cNvPr id="8" name="Text Box 7"/>
          <p:cNvSpPr txBox="1"/>
          <p:nvPr/>
        </p:nvSpPr>
        <p:spPr>
          <a:xfrm>
            <a:off x="2505075" y="2471420"/>
            <a:ext cx="4445000" cy="1938020"/>
          </a:xfrm>
          <a:prstGeom prst="rect">
            <a:avLst/>
          </a:prstGeom>
          <a:noFill/>
        </p:spPr>
        <p:txBody>
          <a:bodyPr wrap="square" rtlCol="0">
            <a:spAutoFit/>
          </a:bodyPr>
          <a:lstStyle/>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Desktop computer (laptop)   </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External hard </a:t>
            </a:r>
            <a:r>
              <a:rPr lang="en-US" altLang="en-GB" sz="2400" dirty="0" smtClean="0">
                <a:latin typeface="Times New Roman" panose="02020603050405020304" charset="0"/>
                <a:cs typeface="Times New Roman" panose="02020603050405020304" charset="0"/>
                <a:sym typeface="+mn-ea"/>
              </a:rPr>
              <a:t>drive</a:t>
            </a:r>
            <a:endParaRPr lang="en-US"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400" dirty="0" err="1">
                <a:latin typeface="Times New Roman" panose="02020603050405020304" charset="0"/>
                <a:cs typeface="Times New Roman" panose="02020603050405020304" charset="0"/>
                <a:sym typeface="+mn-ea"/>
              </a:rPr>
              <a:t>Internat</a:t>
            </a:r>
            <a:r>
              <a:rPr lang="en-US" altLang="en-US" sz="2400" dirty="0">
                <a:latin typeface="Times New Roman" panose="02020603050405020304" charset="0"/>
                <a:cs typeface="Times New Roman" panose="02020603050405020304" charset="0"/>
                <a:sym typeface="+mn-ea"/>
              </a:rPr>
              <a:t> cable</a:t>
            </a:r>
            <a:endParaRPr lang="en-US"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Printer </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sym typeface="+mn-ea"/>
              </a:rPr>
              <a:t>Flash disk</a:t>
            </a:r>
            <a:r>
              <a:rPr lang="en-US" altLang="en-GB" dirty="0">
                <a:sym typeface="+mn-ea"/>
              </a:rPr>
              <a:t>  </a:t>
            </a:r>
            <a:endParaRPr lang="en-GB"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323975" y="56642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1.8.2. Software requirement</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1943100" y="1118870"/>
            <a:ext cx="6616700" cy="1938020"/>
          </a:xfrm>
          <a:prstGeom prst="rect">
            <a:avLst/>
          </a:prstGeom>
          <a:noFill/>
        </p:spPr>
        <p:txBody>
          <a:bodyPr wrap="square" rtlCol="0">
            <a:sp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Microsoft office power point for presentation</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Visual studio code</a:t>
            </a:r>
            <a:endParaRPr lang="en-US" altLang="en-GB" sz="24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web browsers</a:t>
            </a:r>
            <a:endParaRPr lang="en-US" altLang="en-GB" sz="24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XAMP Server </a:t>
            </a:r>
            <a:endParaRPr lang="en-US" altLang="en-GB" sz="24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Wonder share E-draw</a:t>
            </a:r>
            <a:endParaRPr lang="en-GB" altLang="en-US" sz="2400">
              <a:latin typeface="Times New Roman" panose="02020603050405020304" charset="0"/>
              <a:cs typeface="Times New Roman" panose="02020603050405020304" charset="0"/>
            </a:endParaRPr>
          </a:p>
        </p:txBody>
      </p:sp>
      <p:sp>
        <p:nvSpPr>
          <p:cNvPr id="6" name="Text Box 5"/>
          <p:cNvSpPr txBox="1"/>
          <p:nvPr/>
        </p:nvSpPr>
        <p:spPr>
          <a:xfrm>
            <a:off x="1381760" y="3033395"/>
            <a:ext cx="4291965"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rPr>
              <a:t>1.8.3. Programming Language</a:t>
            </a:r>
            <a:endParaRPr lang="en-US" altLang="en-GB" sz="2400">
              <a:latin typeface="Times New Roman" panose="02020603050405020304" charset="0"/>
              <a:cs typeface="Times New Roman" panose="02020603050405020304" charset="0"/>
            </a:endParaRPr>
          </a:p>
        </p:txBody>
      </p:sp>
      <p:sp>
        <p:nvSpPr>
          <p:cNvPr id="7" name="Text Box 6"/>
          <p:cNvSpPr txBox="1"/>
          <p:nvPr/>
        </p:nvSpPr>
        <p:spPr>
          <a:xfrm>
            <a:off x="2019300" y="3614420"/>
            <a:ext cx="6053455" cy="1938020"/>
          </a:xfrm>
          <a:prstGeom prst="rect">
            <a:avLst/>
          </a:prstGeom>
          <a:noFill/>
        </p:spPr>
        <p:txBody>
          <a:bodyPr wrap="square" rtlCol="0">
            <a:sp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Backend Development</a:t>
            </a:r>
            <a:r>
              <a:rPr lang="en-GB" altLang="en-US" sz="2400">
                <a:latin typeface="Times New Roman" panose="02020603050405020304" charset="0"/>
                <a:cs typeface="Times New Roman" panose="02020603050405020304" charset="0"/>
                <a:sym typeface="+mn-ea"/>
              </a:rPr>
              <a:t>:- </a:t>
            </a:r>
            <a:r>
              <a:rPr lang="en-US" altLang="en-GB" sz="2400">
                <a:latin typeface="Times New Roman" panose="02020603050405020304" charset="0"/>
                <a:cs typeface="Times New Roman" panose="02020603050405020304" charset="0"/>
                <a:sym typeface="+mn-ea"/>
              </a:rPr>
              <a:t>PHP</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sym typeface="+mn-ea"/>
              </a:rPr>
              <a:t> Frontend Development</a:t>
            </a:r>
            <a:r>
              <a:rPr lang="en-GB" altLang="en-US" sz="2400">
                <a:latin typeface="Times New Roman" panose="02020603050405020304" charset="0"/>
                <a:cs typeface="Times New Roman" panose="02020603050405020304" charset="0"/>
                <a:sym typeface="+mn-ea"/>
              </a:rPr>
              <a:t>:- </a:t>
            </a:r>
            <a:r>
              <a:rPr lang="en-US" altLang="en-GB" sz="2400">
                <a:latin typeface="Times New Roman" panose="02020603050405020304" charset="0"/>
                <a:cs typeface="Times New Roman" panose="02020603050405020304" charset="0"/>
                <a:sym typeface="+mn-ea"/>
              </a:rPr>
              <a:t>HTML</a:t>
            </a:r>
            <a:r>
              <a:rPr lang="en-GB" altLang="en-US" sz="2400">
                <a:latin typeface="Times New Roman" panose="02020603050405020304" charset="0"/>
                <a:cs typeface="Times New Roman" panose="02020603050405020304" charset="0"/>
                <a:sym typeface="+mn-ea"/>
              </a:rPr>
              <a:t> ,</a:t>
            </a:r>
            <a:r>
              <a:rPr lang="en-US" altLang="en-GB" sz="2400">
                <a:latin typeface="Times New Roman" panose="02020603050405020304" charset="0"/>
                <a:cs typeface="Times New Roman" panose="02020603050405020304" charset="0"/>
                <a:sym typeface="+mn-ea"/>
              </a:rPr>
              <a:t>CSS</a:t>
            </a:r>
            <a:r>
              <a:rPr lang="en-GB" altLang="en-US" sz="2400">
                <a:latin typeface="Times New Roman" panose="02020603050405020304" charset="0"/>
                <a:cs typeface="Times New Roman" panose="02020603050405020304" charset="0"/>
                <a:sym typeface="+mn-ea"/>
              </a:rPr>
              <a:t> and </a:t>
            </a:r>
            <a:r>
              <a:rPr lang="en-US" altLang="en-GB" sz="2400">
                <a:latin typeface="Times New Roman" panose="02020603050405020304" charset="0"/>
                <a:cs typeface="Times New Roman" panose="02020603050405020304" charset="0"/>
                <a:sym typeface="+mn-ea"/>
              </a:rPr>
              <a:t>JavaScript</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Database Management:</a:t>
            </a: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sym typeface="+mn-ea"/>
              </a:rPr>
              <a:t>SQL</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019175" y="328295"/>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1.10. Feasibility Study</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4436110" y="871220"/>
            <a:ext cx="5465445" cy="666750"/>
          </a:xfrm>
          <a:prstGeom prst="rect">
            <a:avLst/>
          </a:prstGeom>
          <a:noFill/>
        </p:spPr>
        <p:txBody>
          <a:bodyPr wrap="square" rtlCol="0">
            <a:noAutofit/>
          </a:bodyPr>
          <a:lstStyle/>
          <a:p>
            <a:r>
              <a:rPr lang="en-US" altLang="en-GB" sz="2400">
                <a:latin typeface="Times New Roman" panose="02020603050405020304" charset="0"/>
                <a:cs typeface="Times New Roman" panose="02020603050405020304" charset="0"/>
              </a:rPr>
              <a:t>Will the system solve current scheduling challenges?</a:t>
            </a:r>
            <a:endParaRPr lang="en-US" altLang="en-GB" sz="2400">
              <a:latin typeface="Times New Roman" panose="02020603050405020304" charset="0"/>
              <a:cs typeface="Times New Roman" panose="02020603050405020304" charset="0"/>
            </a:endParaRPr>
          </a:p>
        </p:txBody>
      </p:sp>
      <p:sp>
        <p:nvSpPr>
          <p:cNvPr id="6" name="Text Box 5"/>
          <p:cNvSpPr txBox="1"/>
          <p:nvPr/>
        </p:nvSpPr>
        <p:spPr>
          <a:xfrm>
            <a:off x="1171575" y="1813560"/>
            <a:ext cx="3263265"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Technical Feasibility</a:t>
            </a:r>
            <a:r>
              <a:rPr lang="en-GB" altLang="en-US" sz="2400" b="1">
                <a:latin typeface="Times New Roman" panose="02020603050405020304" charset="0"/>
                <a:cs typeface="Times New Roman" panose="02020603050405020304" charset="0"/>
              </a:rPr>
              <a:t> :                                                                    </a:t>
            </a:r>
            <a:endParaRPr lang="en-GB" altLang="en-US" sz="2400" b="1">
              <a:latin typeface="Times New Roman" panose="02020603050405020304" charset="0"/>
              <a:cs typeface="Times New Roman" panose="02020603050405020304" charset="0"/>
            </a:endParaRPr>
          </a:p>
        </p:txBody>
      </p:sp>
      <p:sp>
        <p:nvSpPr>
          <p:cNvPr id="7" name="Text Box 6"/>
          <p:cNvSpPr txBox="1"/>
          <p:nvPr/>
        </p:nvSpPr>
        <p:spPr>
          <a:xfrm>
            <a:off x="4200525" y="1813560"/>
            <a:ext cx="6119495" cy="1938020"/>
          </a:xfrm>
          <a:prstGeom prst="rect">
            <a:avLst/>
          </a:prstGeom>
          <a:noFill/>
        </p:spPr>
        <p:txBody>
          <a:bodyPr wrap="square" rtlCol="0">
            <a:sp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Assess existing infrastructure (hardware, network, and skills).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Ensure the campus has the necessary resources for system development &amp; maintenance.</a:t>
            </a:r>
            <a:endParaRPr lang="en-US" altLang="en-GB" sz="2400">
              <a:latin typeface="Times New Roman" panose="02020603050405020304" charset="0"/>
              <a:cs typeface="Times New Roman" panose="02020603050405020304" charset="0"/>
            </a:endParaRPr>
          </a:p>
        </p:txBody>
      </p:sp>
      <p:sp>
        <p:nvSpPr>
          <p:cNvPr id="8" name="Text Box 7"/>
          <p:cNvSpPr txBox="1"/>
          <p:nvPr/>
        </p:nvSpPr>
        <p:spPr>
          <a:xfrm>
            <a:off x="1171575" y="3757295"/>
            <a:ext cx="32639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Economic Feasibility</a:t>
            </a:r>
            <a:r>
              <a:rPr lang="en-GB" altLang="en-US" sz="2400" b="1">
                <a:latin typeface="Times New Roman" panose="02020603050405020304" charset="0"/>
                <a:cs typeface="Times New Roman" panose="02020603050405020304" charset="0"/>
              </a:rPr>
              <a:t>:</a:t>
            </a:r>
            <a:endParaRPr lang="en-GB" altLang="en-US" sz="2400" b="1">
              <a:latin typeface="Times New Roman" panose="02020603050405020304" charset="0"/>
              <a:cs typeface="Times New Roman" panose="02020603050405020304" charset="0"/>
            </a:endParaRPr>
          </a:p>
        </p:txBody>
      </p:sp>
      <p:sp>
        <p:nvSpPr>
          <p:cNvPr id="9" name="Text Box 8"/>
          <p:cNvSpPr txBox="1"/>
          <p:nvPr/>
        </p:nvSpPr>
        <p:spPr>
          <a:xfrm>
            <a:off x="4200525" y="3751580"/>
            <a:ext cx="5788025" cy="927735"/>
          </a:xfrm>
          <a:prstGeom prst="rect">
            <a:avLst/>
          </a:prstGeom>
          <a:noFill/>
        </p:spPr>
        <p:txBody>
          <a:bodyPr wrap="square" rtlCol="0">
            <a:noAutofit/>
          </a:bodyPr>
          <a:lstStyle/>
          <a:p>
            <a:r>
              <a:rPr lang="en-US" altLang="en-GB"/>
              <a:t> </a:t>
            </a:r>
            <a:r>
              <a:rPr lang="en-US" altLang="en-GB" sz="2400">
                <a:latin typeface="Times New Roman" panose="02020603050405020304" charset="0"/>
                <a:cs typeface="Times New Roman" panose="02020603050405020304" charset="0"/>
              </a:rPr>
              <a:t>Cost-benefit analysis of development &amp; implementation.</a:t>
            </a:r>
            <a:endParaRPr lang="en-GB" altLang="en-US" sz="2400">
              <a:latin typeface="Times New Roman" panose="02020603050405020304" charset="0"/>
              <a:cs typeface="Times New Roman" panose="02020603050405020304" charset="0"/>
            </a:endParaRPr>
          </a:p>
        </p:txBody>
      </p:sp>
      <p:sp>
        <p:nvSpPr>
          <p:cNvPr id="13" name="Text Box 12"/>
          <p:cNvSpPr txBox="1"/>
          <p:nvPr/>
        </p:nvSpPr>
        <p:spPr>
          <a:xfrm>
            <a:off x="1171575" y="871220"/>
            <a:ext cx="434975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Operational Feasibility</a:t>
            </a:r>
            <a:r>
              <a:rPr lang="en-GB" altLang="en-US" sz="2400" b="1">
                <a:latin typeface="Times New Roman" panose="02020603050405020304" charset="0"/>
                <a:cs typeface="Times New Roman" panose="02020603050405020304" charset="0"/>
              </a:rPr>
              <a:t> :</a:t>
            </a:r>
            <a:endParaRPr lang="en-GB" altLang="en-US" sz="2400" b="1">
              <a:latin typeface="Times New Roman" panose="02020603050405020304" charset="0"/>
              <a:cs typeface="Times New Roman" panose="02020603050405020304" charset="0"/>
            </a:endParaRPr>
          </a:p>
        </p:txBody>
      </p:sp>
      <p:sp>
        <p:nvSpPr>
          <p:cNvPr id="14" name="Text Box 13"/>
          <p:cNvSpPr txBox="1"/>
          <p:nvPr/>
        </p:nvSpPr>
        <p:spPr>
          <a:xfrm>
            <a:off x="1236980" y="458597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Schedule Feasibility</a:t>
            </a:r>
            <a:r>
              <a:rPr lang="en-GB" altLang="en-US" sz="2400" b="1">
                <a:latin typeface="Times New Roman" panose="02020603050405020304" charset="0"/>
                <a:cs typeface="Times New Roman" panose="02020603050405020304" charset="0"/>
              </a:rPr>
              <a:t> : </a:t>
            </a:r>
            <a:endParaRPr lang="en-GB" altLang="en-US" sz="2400" b="1">
              <a:latin typeface="Times New Roman" panose="02020603050405020304" charset="0"/>
              <a:cs typeface="Times New Roman" panose="02020603050405020304" charset="0"/>
            </a:endParaRPr>
          </a:p>
        </p:txBody>
      </p:sp>
      <p:sp>
        <p:nvSpPr>
          <p:cNvPr id="15" name="Text Box 14"/>
          <p:cNvSpPr txBox="1"/>
          <p:nvPr/>
        </p:nvSpPr>
        <p:spPr>
          <a:xfrm>
            <a:off x="4200525" y="4585335"/>
            <a:ext cx="5454015" cy="553085"/>
          </a:xfrm>
          <a:prstGeom prst="rect">
            <a:avLst/>
          </a:prstGeom>
          <a:noFill/>
        </p:spPr>
        <p:txBody>
          <a:bodyPr wrap="square" rtlCol="0">
            <a:noAutofit/>
          </a:bodyPr>
          <a:lstStyle/>
          <a:p>
            <a:r>
              <a:rPr lang="en-US" altLang="en-GB"/>
              <a:t> </a:t>
            </a:r>
            <a:r>
              <a:rPr lang="en-US" altLang="en-GB" sz="2400">
                <a:latin typeface="Times New Roman" panose="02020603050405020304" charset="0"/>
                <a:cs typeface="Times New Roman" panose="02020603050405020304" charset="0"/>
              </a:rPr>
              <a:t>Can the project be completed on time?</a:t>
            </a:r>
            <a:endParaRPr lang="en-US" altLang="en-GB" sz="2400">
              <a:latin typeface="Times New Roman" panose="02020603050405020304" charset="0"/>
              <a:cs typeface="Times New Roman" panose="02020603050405020304" charset="0"/>
            </a:endParaRPr>
          </a:p>
        </p:txBody>
      </p:sp>
      <p:sp>
        <p:nvSpPr>
          <p:cNvPr id="16" name="Text Box 15"/>
          <p:cNvSpPr txBox="1"/>
          <p:nvPr/>
        </p:nvSpPr>
        <p:spPr>
          <a:xfrm>
            <a:off x="1324610" y="5252720"/>
            <a:ext cx="5596890" cy="460375"/>
          </a:xfrm>
          <a:prstGeom prst="rect">
            <a:avLst/>
          </a:prstGeom>
          <a:noFill/>
        </p:spPr>
        <p:txBody>
          <a:bodyPr wrap="square" rtlCol="0">
            <a:spAutoFit/>
          </a:bodyPr>
          <a:lstStyle/>
          <a:p>
            <a:r>
              <a:rPr lang="en-GB" altLang="en-US" sz="2400" b="1" dirty="0">
                <a:latin typeface="Times New Roman" panose="02020603050405020304" charset="0"/>
                <a:cs typeface="Times New Roman" panose="02020603050405020304" charset="0"/>
              </a:rPr>
              <a:t> </a:t>
            </a:r>
            <a:r>
              <a:rPr lang="en-US" altLang="en-GB" sz="2400" b="1" dirty="0" smtClean="0">
                <a:latin typeface="Times New Roman" panose="02020603050405020304" charset="0"/>
                <a:cs typeface="Times New Roman" panose="02020603050405020304" charset="0"/>
              </a:rPr>
              <a:t>Legal </a:t>
            </a:r>
            <a:r>
              <a:rPr lang="en-US" altLang="en-GB" sz="2400" b="1" dirty="0">
                <a:latin typeface="Times New Roman" panose="02020603050405020304" charset="0"/>
                <a:cs typeface="Times New Roman" panose="02020603050405020304" charset="0"/>
              </a:rPr>
              <a:t>Feasibility</a:t>
            </a:r>
            <a:r>
              <a:rPr lang="en-GB" altLang="en-US" sz="2400" b="1" dirty="0">
                <a:latin typeface="Times New Roman" panose="02020603050405020304" charset="0"/>
                <a:cs typeface="Times New Roman" panose="02020603050405020304" charset="0"/>
              </a:rPr>
              <a:t> :</a:t>
            </a:r>
            <a:endParaRPr lang="en-GB" altLang="en-US" sz="2400" b="1" dirty="0">
              <a:latin typeface="Times New Roman" panose="02020603050405020304" charset="0"/>
              <a:cs typeface="Times New Roman" panose="02020603050405020304" charset="0"/>
            </a:endParaRPr>
          </a:p>
        </p:txBody>
      </p:sp>
      <p:sp>
        <p:nvSpPr>
          <p:cNvPr id="18" name="Text Box 17"/>
          <p:cNvSpPr txBox="1"/>
          <p:nvPr/>
        </p:nvSpPr>
        <p:spPr>
          <a:xfrm>
            <a:off x="4064000" y="5252720"/>
            <a:ext cx="5837555" cy="1127125"/>
          </a:xfrm>
          <a:prstGeom prst="rect">
            <a:avLst/>
          </a:prstGeom>
          <a:noFill/>
        </p:spPr>
        <p:txBody>
          <a:bodyPr wrap="square" rtlCol="0">
            <a:noAutofit/>
          </a:bodyPr>
          <a:lstStyle/>
          <a:p>
            <a:r>
              <a:rPr lang="en-US" altLang="en-GB" sz="2400">
                <a:latin typeface="Times New Roman" panose="02020603050405020304" charset="0"/>
                <a:cs typeface="Times New Roman" panose="02020603050405020304" charset="0"/>
              </a:rPr>
              <a:t>Ensures compliance with University policies</a:t>
            </a:r>
            <a:r>
              <a:rPr lang="en-GB" altLang="en-US" sz="2400">
                <a:latin typeface="Times New Roman" panose="02020603050405020304" charset="0"/>
                <a:cs typeface="Times New Roman" panose="02020603050405020304" charset="0"/>
              </a:rPr>
              <a:t> and </a:t>
            </a:r>
            <a:r>
              <a:rPr lang="en-US" altLang="en-GB" sz="2400">
                <a:latin typeface="Times New Roman" panose="02020603050405020304" charset="0"/>
                <a:cs typeface="Times New Roman" panose="02020603050405020304" charset="0"/>
              </a:rPr>
              <a:t> National data protection regulations.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333500" y="404495"/>
            <a:ext cx="4064000" cy="426720"/>
          </a:xfrm>
          <a:prstGeom prst="rect">
            <a:avLst/>
          </a:prstGeom>
          <a:noFill/>
        </p:spPr>
        <p:txBody>
          <a:bodyPr wrap="square" rtlCol="0">
            <a:noAutofit/>
          </a:bodyPr>
          <a:lstStyle/>
          <a:p>
            <a:r>
              <a:rPr lang="en-US" altLang="en-GB" b="1">
                <a:latin typeface="Times New Roman" panose="02020603050405020304" charset="0"/>
                <a:cs typeface="Times New Roman" panose="02020603050405020304" charset="0"/>
                <a:sym typeface="+mn-ea"/>
              </a:rPr>
              <a:t>Chapter two : System Analysis</a:t>
            </a:r>
            <a:endParaRPr lang="en-GB" altLang="en-US" b="1">
              <a:latin typeface="Times New Roman" panose="02020603050405020304" charset="0"/>
              <a:cs typeface="Times New Roman" panose="02020603050405020304" charset="0"/>
            </a:endParaRPr>
          </a:p>
          <a:p>
            <a:endParaRPr lang="en-GB" altLang="en-US"/>
          </a:p>
        </p:txBody>
      </p:sp>
      <p:sp>
        <p:nvSpPr>
          <p:cNvPr id="5" name="Text Box 4"/>
          <p:cNvSpPr txBox="1"/>
          <p:nvPr/>
        </p:nvSpPr>
        <p:spPr>
          <a:xfrm>
            <a:off x="1390650" y="750570"/>
            <a:ext cx="4064000" cy="645160"/>
          </a:xfrm>
          <a:prstGeom prst="rect">
            <a:avLst/>
          </a:prstGeom>
          <a:noFill/>
        </p:spPr>
        <p:txBody>
          <a:bodyPr wrap="square" rtlCol="0">
            <a:spAutoFit/>
          </a:bodyPr>
          <a:lstStyle/>
          <a:p>
            <a:r>
              <a:rPr lang="en-US" altLang="en-GB" b="1">
                <a:latin typeface="Times New Roman" panose="02020603050405020304" charset="0"/>
                <a:cs typeface="Times New Roman" panose="02020603050405020304" charset="0"/>
                <a:sym typeface="+mn-ea"/>
              </a:rPr>
              <a:t>2.1. Overview of the existing system</a:t>
            </a:r>
            <a:endParaRPr lang="en-US" altLang="en-GB" b="1">
              <a:latin typeface="Times New Roman" panose="02020603050405020304" charset="0"/>
              <a:cs typeface="Times New Roman" panose="02020603050405020304" charset="0"/>
            </a:endParaRPr>
          </a:p>
          <a:p>
            <a:endParaRPr lang="en-GB" altLang="en-US"/>
          </a:p>
        </p:txBody>
      </p:sp>
      <p:sp>
        <p:nvSpPr>
          <p:cNvPr id="7" name="Text Box 6"/>
          <p:cNvSpPr txBox="1"/>
          <p:nvPr/>
        </p:nvSpPr>
        <p:spPr>
          <a:xfrm>
            <a:off x="1619250" y="1128395"/>
            <a:ext cx="4064000" cy="368300"/>
          </a:xfrm>
          <a:prstGeom prst="rect">
            <a:avLst/>
          </a:prstGeom>
          <a:noFill/>
        </p:spPr>
        <p:txBody>
          <a:bodyPr wrap="square" rtlCol="0">
            <a:spAutoFit/>
          </a:bodyPr>
          <a:lstStyle/>
          <a:p>
            <a:r>
              <a:rPr lang="en-US" altLang="en-GB" b="1" dirty="0">
                <a:latin typeface="Times New Roman" panose="02020603050405020304" charset="0"/>
                <a:cs typeface="Times New Roman" panose="02020603050405020304" charset="0"/>
                <a:sym typeface="+mn-ea"/>
              </a:rPr>
              <a:t>System Workflow</a:t>
            </a:r>
            <a:endParaRPr lang="en-GB" altLang="en-US" dirty="0"/>
          </a:p>
        </p:txBody>
      </p:sp>
      <p:sp>
        <p:nvSpPr>
          <p:cNvPr id="8" name="Text Box 7"/>
          <p:cNvSpPr txBox="1"/>
          <p:nvPr/>
        </p:nvSpPr>
        <p:spPr>
          <a:xfrm>
            <a:off x="2266950" y="1595120"/>
            <a:ext cx="6854825" cy="1938992"/>
          </a:xfrm>
          <a:prstGeom prst="rect">
            <a:avLst/>
          </a:prstGeom>
          <a:noFill/>
        </p:spPr>
        <p:txBody>
          <a:bodyPr wrap="square" rtlCol="0">
            <a:spAutoFit/>
          </a:bodyPr>
          <a:lstStyle/>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The scheduling process at DMU </a:t>
            </a:r>
            <a:r>
              <a:rPr lang="en-US" altLang="en-GB" sz="2000" dirty="0" err="1">
                <a:latin typeface="Times New Roman" panose="02020603050405020304" charset="0"/>
                <a:cs typeface="Times New Roman" panose="02020603050405020304" charset="0"/>
                <a:sym typeface="+mn-ea"/>
              </a:rPr>
              <a:t>Bure</a:t>
            </a:r>
            <a:r>
              <a:rPr lang="en-US" altLang="en-GB" sz="2000" dirty="0">
                <a:latin typeface="Times New Roman" panose="02020603050405020304" charset="0"/>
                <a:cs typeface="Times New Roman" panose="02020603050405020304" charset="0"/>
                <a:sym typeface="+mn-ea"/>
              </a:rPr>
              <a:t> Campus is manual.</a:t>
            </a:r>
            <a:endParaRPr lang="en-US" altLang="en-GB"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Classes, instructors, and classrooms are assigned using handwritten notes.</a:t>
            </a:r>
            <a:endParaRPr lang="en-US" altLang="en-GB"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Changes require time-consuming communication.</a:t>
            </a:r>
            <a:endParaRPr lang="en-US" altLang="en-GB"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No automated conflict detection  leads to double bookings and overlapping classes</a:t>
            </a:r>
            <a:endParaRPr lang="en-GB" altLang="en-US" sz="2000" dirty="0"/>
          </a:p>
        </p:txBody>
      </p:sp>
      <p:sp>
        <p:nvSpPr>
          <p:cNvPr id="10" name="Text Box 9"/>
          <p:cNvSpPr txBox="1"/>
          <p:nvPr/>
        </p:nvSpPr>
        <p:spPr>
          <a:xfrm>
            <a:off x="1403350" y="3573780"/>
            <a:ext cx="4064000" cy="645160"/>
          </a:xfrm>
          <a:prstGeom prst="rect">
            <a:avLst/>
          </a:prstGeom>
          <a:noFill/>
        </p:spPr>
        <p:txBody>
          <a:bodyPr wrap="square" rtlCol="0">
            <a:spAutoFit/>
          </a:bodyPr>
          <a:lstStyle/>
          <a:p>
            <a:r>
              <a:rPr lang="en-US" altLang="en-GB" b="1">
                <a:sym typeface="+mn-ea"/>
              </a:rPr>
              <a:t> </a:t>
            </a:r>
            <a:r>
              <a:rPr lang="en-US" altLang="en-GB" b="1">
                <a:latin typeface="Times New Roman" panose="02020603050405020304" charset="0"/>
                <a:cs typeface="Times New Roman" panose="02020603050405020304" charset="0"/>
                <a:sym typeface="+mn-ea"/>
              </a:rPr>
              <a:t>Technology Used</a:t>
            </a:r>
            <a:endParaRPr lang="en-US" altLang="en-GB" b="1">
              <a:latin typeface="Times New Roman" panose="02020603050405020304" charset="0"/>
              <a:cs typeface="Times New Roman" panose="02020603050405020304" charset="0"/>
            </a:endParaRPr>
          </a:p>
          <a:p>
            <a:endParaRPr lang="en-GB" altLang="en-US"/>
          </a:p>
        </p:txBody>
      </p:sp>
      <p:sp>
        <p:nvSpPr>
          <p:cNvPr id="12" name="Text Box 11"/>
          <p:cNvSpPr txBox="1"/>
          <p:nvPr/>
        </p:nvSpPr>
        <p:spPr>
          <a:xfrm>
            <a:off x="2324100" y="4112260"/>
            <a:ext cx="6045200" cy="1631216"/>
          </a:xfrm>
          <a:prstGeom prst="rect">
            <a:avLst/>
          </a:prstGeom>
          <a:noFill/>
        </p:spPr>
        <p:txBody>
          <a:bodyPr wrap="square" rtlCol="0">
            <a:spAutoFit/>
          </a:bodyPr>
          <a:lstStyle/>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No specialized software for scheduling.</a:t>
            </a:r>
            <a:endParaRPr lang="en-US" altLang="en-GB"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Process relies on physical files and printed spreadsheets.</a:t>
            </a:r>
            <a:endParaRPr lang="en-US" altLang="en-GB"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000" dirty="0">
                <a:latin typeface="Times New Roman" panose="02020603050405020304" charset="0"/>
                <a:cs typeface="Times New Roman" panose="02020603050405020304" charset="0"/>
                <a:sym typeface="+mn-ea"/>
              </a:rPr>
              <a:t>Difficult to track data and manage scheduling efficiently.</a:t>
            </a:r>
            <a:endParaRPr lang="en-GB"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219200" y="756920"/>
            <a:ext cx="5006975"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Strengths of the System</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1847850" y="1188720"/>
            <a:ext cx="6692265" cy="731520"/>
          </a:xfrm>
          <a:prstGeom prst="rect">
            <a:avLst/>
          </a:prstGeom>
          <a:noFill/>
        </p:spPr>
        <p:txBody>
          <a:bodyPr wrap="square" rtlCol="0">
            <a:noAutofit/>
          </a:bodyPr>
          <a:lstStyle/>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Simple to use  no need for technical skills.</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Staff are familiar with the paper-based approach.</a:t>
            </a:r>
            <a:endParaRPr lang="en-US" altLang="en-GB" sz="2400">
              <a:latin typeface="Times New Roman" panose="02020603050405020304" charset="0"/>
              <a:cs typeface="Times New Roman" panose="02020603050405020304" charset="0"/>
            </a:endParaRPr>
          </a:p>
          <a:p>
            <a:pPr indent="0">
              <a:buFont typeface="Arial" panose="020B0604020202020204" pitchFamily="34" charset="0"/>
              <a:buNone/>
            </a:pPr>
            <a:endParaRPr lang="en-GB" altLang="en-US" sz="2400">
              <a:latin typeface="Times New Roman" panose="02020603050405020304" charset="0"/>
              <a:cs typeface="Times New Roman" panose="02020603050405020304" charset="0"/>
            </a:endParaRPr>
          </a:p>
        </p:txBody>
      </p:sp>
      <p:sp>
        <p:nvSpPr>
          <p:cNvPr id="7" name="Text Box 6"/>
          <p:cNvSpPr txBox="1"/>
          <p:nvPr/>
        </p:nvSpPr>
        <p:spPr>
          <a:xfrm>
            <a:off x="1162050" y="1953260"/>
            <a:ext cx="652145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Limitations &amp; Challenges</a:t>
            </a:r>
            <a:endParaRPr lang="en-GB" altLang="en-US" sz="2400" b="1">
              <a:latin typeface="Times New Roman" panose="02020603050405020304" charset="0"/>
              <a:cs typeface="Times New Roman" panose="02020603050405020304" charset="0"/>
            </a:endParaRPr>
          </a:p>
        </p:txBody>
      </p:sp>
      <p:sp>
        <p:nvSpPr>
          <p:cNvPr id="10" name="Text Box 9"/>
          <p:cNvSpPr txBox="1"/>
          <p:nvPr/>
        </p:nvSpPr>
        <p:spPr>
          <a:xfrm>
            <a:off x="1847850" y="2453005"/>
            <a:ext cx="7977505" cy="1496695"/>
          </a:xfrm>
          <a:prstGeom prst="rect">
            <a:avLst/>
          </a:prstGeom>
          <a:noFill/>
        </p:spPr>
        <p:txBody>
          <a:bodyPr wrap="square" rtlCol="0">
            <a:noAutofit/>
          </a:bodyPr>
          <a:lstStyle/>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High risk of errors .</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Slow updates &amp; difficulty in retrieving information.</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No centralized system </a:t>
            </a:r>
            <a:r>
              <a:rPr lang="en-US" altLang="en-US" sz="2400">
                <a:latin typeface="Times New Roman" panose="02020603050405020304" charset="0"/>
                <a:cs typeface="Times New Roman" panose="02020603050405020304" charset="0"/>
              </a:rPr>
              <a:t>→</a:t>
            </a:r>
            <a:r>
              <a:rPr lang="en-US" altLang="en-GB" sz="2400">
                <a:latin typeface="Times New Roman" panose="02020603050405020304" charset="0"/>
                <a:cs typeface="Times New Roman" panose="02020603050405020304" charset="0"/>
              </a:rPr>
              <a:t> outdated and duplicate data.</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Time-consuming manual work.</a:t>
            </a:r>
            <a:endParaRPr lang="en-GB" altLang="en-US" sz="2400">
              <a:latin typeface="Times New Roman" panose="02020603050405020304" charset="0"/>
              <a:cs typeface="Times New Roman" panose="02020603050405020304" charset="0"/>
            </a:endParaRPr>
          </a:p>
        </p:txBody>
      </p:sp>
      <p:sp>
        <p:nvSpPr>
          <p:cNvPr id="11" name="Text Box 10"/>
          <p:cNvSpPr txBox="1"/>
          <p:nvPr/>
        </p:nvSpPr>
        <p:spPr>
          <a:xfrm>
            <a:off x="1304925" y="3949700"/>
            <a:ext cx="8302625" cy="460375"/>
          </a:xfrm>
          <a:prstGeom prst="rect">
            <a:avLst/>
          </a:prstGeom>
          <a:noFill/>
        </p:spPr>
        <p:txBody>
          <a:bodyPr wrap="square" rtlCol="0">
            <a:spAutoFit/>
          </a:bodyPr>
          <a:lstStyle/>
          <a:p>
            <a:pPr indent="0">
              <a:buNone/>
            </a:pPr>
            <a:r>
              <a:rPr lang="en-US" altLang="en-GB" sz="2400" b="1">
                <a:latin typeface="Times New Roman" panose="02020603050405020304" charset="0"/>
                <a:cs typeface="Times New Roman" panose="02020603050405020304" charset="0"/>
              </a:rPr>
              <a:t>Performance &amp; Efficiency</a:t>
            </a:r>
            <a:endParaRPr lang="en-US" altLang="en-GB" sz="2400" b="1">
              <a:latin typeface="Times New Roman" panose="02020603050405020304" charset="0"/>
              <a:cs typeface="Times New Roman" panose="02020603050405020304" charset="0"/>
            </a:endParaRPr>
          </a:p>
        </p:txBody>
      </p:sp>
      <p:sp>
        <p:nvSpPr>
          <p:cNvPr id="12" name="Text Box 11"/>
          <p:cNvSpPr txBox="1"/>
          <p:nvPr/>
        </p:nvSpPr>
        <p:spPr>
          <a:xfrm>
            <a:off x="1847850" y="4483100"/>
            <a:ext cx="7292975" cy="1631950"/>
          </a:xfrm>
          <a:prstGeom prst="rect">
            <a:avLst/>
          </a:prstGeom>
          <a:noFill/>
        </p:spPr>
        <p:txBody>
          <a:bodyPr wrap="square" rtlCol="0">
            <a:noAutofit/>
          </a:bodyPr>
          <a:lstStyle/>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Slow process due to manual work.</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No centralized system  difficult to find schedules.</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Delays in decision-making</a:t>
            </a:r>
            <a:endParaRPr lang="en-US" altLang="en-GB" sz="2400">
              <a:latin typeface="Times New Roman" panose="02020603050405020304" charset="0"/>
              <a:cs typeface="Times New Roman" panose="02020603050405020304" charset="0"/>
            </a:endParaRPr>
          </a:p>
        </p:txBody>
      </p:sp>
      <p:sp>
        <p:nvSpPr>
          <p:cNvPr id="13" name="Text Box 12"/>
          <p:cNvSpPr txBox="1"/>
          <p:nvPr/>
        </p:nvSpPr>
        <p:spPr>
          <a:xfrm>
            <a:off x="1704975" y="5433695"/>
            <a:ext cx="4064000" cy="368300"/>
          </a:xfrm>
          <a:prstGeom prst="rect">
            <a:avLst/>
          </a:prstGeom>
          <a:noFill/>
        </p:spPr>
        <p:txBody>
          <a:bodyPr wrap="square" rtlCol="0">
            <a:spAutoFit/>
          </a:bodyPr>
          <a:lstStyle/>
          <a:p>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619250" y="699770"/>
            <a:ext cx="5540375" cy="521970"/>
          </a:xfrm>
          <a:prstGeom prst="rect">
            <a:avLst/>
          </a:prstGeom>
          <a:noFill/>
        </p:spPr>
        <p:txBody>
          <a:bodyPr wrap="square" rtlCol="0">
            <a:spAutoFit/>
          </a:bodyPr>
          <a:lstStyle/>
          <a:p>
            <a:r>
              <a:rPr lang="en-US" altLang="en-GB" sz="2800">
                <a:latin typeface="Times New Roman" panose="02020603050405020304" charset="0"/>
                <a:cs typeface="Times New Roman" panose="02020603050405020304" charset="0"/>
              </a:rPr>
              <a:t> </a:t>
            </a:r>
            <a:r>
              <a:rPr lang="en-US" altLang="en-GB" sz="2800" b="1">
                <a:latin typeface="Times New Roman" panose="02020603050405020304" charset="0"/>
                <a:cs typeface="Times New Roman" panose="02020603050405020304" charset="0"/>
              </a:rPr>
              <a:t>Users of the existing system</a:t>
            </a:r>
            <a:endParaRPr lang="en-US" altLang="en-GB" sz="2800" b="1">
              <a:latin typeface="Times New Roman" panose="02020603050405020304" charset="0"/>
              <a:cs typeface="Times New Roman" panose="02020603050405020304" charset="0"/>
            </a:endParaRPr>
          </a:p>
        </p:txBody>
      </p:sp>
      <p:sp>
        <p:nvSpPr>
          <p:cNvPr id="4" name="Text Box 3"/>
          <p:cNvSpPr txBox="1"/>
          <p:nvPr/>
        </p:nvSpPr>
        <p:spPr>
          <a:xfrm>
            <a:off x="2019935" y="1328420"/>
            <a:ext cx="8806180"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rPr>
              <a:t>An existing system compromises different players to carry out its job.</a:t>
            </a:r>
            <a:r>
              <a:rPr lang="en-US" altLang="en-GB" sz="2400"/>
              <a:t> </a:t>
            </a:r>
            <a:endParaRPr lang="en-US" altLang="en-GB" sz="2400"/>
          </a:p>
        </p:txBody>
      </p:sp>
      <p:sp>
        <p:nvSpPr>
          <p:cNvPr id="5" name="Text Box 4"/>
          <p:cNvSpPr txBox="1"/>
          <p:nvPr/>
        </p:nvSpPr>
        <p:spPr>
          <a:xfrm>
            <a:off x="2247900" y="1896110"/>
            <a:ext cx="8663305" cy="3676650"/>
          </a:xfrm>
          <a:prstGeom prst="rect">
            <a:avLst/>
          </a:prstGeom>
          <a:noFill/>
        </p:spPr>
        <p:txBody>
          <a:bodyPr wrap="square" rtlCol="0">
            <a:noAutofit/>
          </a:bodyPr>
          <a:lstStyle/>
          <a:p>
            <a:pPr marL="342900" indent="-342900" algn="just">
              <a:buFont typeface="Arial" panose="020B0604020202020204" pitchFamily="34" charset="0"/>
              <a:buChar char="•"/>
            </a:pPr>
            <a:r>
              <a:rPr lang="en-US" altLang="en-GB" sz="2400" dirty="0">
                <a:latin typeface="Times New Roman" panose="02020603050405020304" charset="0"/>
                <a:cs typeface="Times New Roman" panose="02020603050405020304" charset="0"/>
              </a:rPr>
              <a:t>Student:  </a:t>
            </a:r>
            <a:endParaRPr lang="en-US" altLang="en-GB" sz="2400" dirty="0" smtClean="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400" dirty="0" smtClean="0">
                <a:latin typeface="Times New Roman" panose="02020603050405020304" charset="0"/>
                <a:cs typeface="Times New Roman" panose="02020603050405020304" charset="0"/>
              </a:rPr>
              <a:t>Instructor</a:t>
            </a:r>
            <a:r>
              <a:rPr lang="en-US" altLang="en-GB" sz="2400" dirty="0">
                <a:latin typeface="Times New Roman" panose="02020603050405020304" charset="0"/>
                <a:cs typeface="Times New Roman" panose="02020603050405020304" charset="0"/>
              </a:rPr>
              <a:t>: </a:t>
            </a:r>
            <a:endParaRPr lang="en-US" altLang="en-GB" sz="2400" dirty="0" smtClean="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400" dirty="0" smtClean="0">
                <a:latin typeface="Times New Roman" panose="02020603050405020304" charset="0"/>
                <a:cs typeface="Times New Roman" panose="02020603050405020304" charset="0"/>
              </a:rPr>
              <a:t>Registrar personnel:</a:t>
            </a:r>
            <a:endParaRPr lang="en-US" altLang="en-GB" sz="2400" dirty="0" smtClean="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400" dirty="0" smtClean="0">
                <a:latin typeface="Times New Roman" panose="02020603050405020304" charset="0"/>
                <a:cs typeface="Times New Roman" panose="02020603050405020304" charset="0"/>
              </a:rPr>
              <a:t>Department head:  </a:t>
            </a:r>
            <a:endParaRPr lang="en-US" altLang="en-GB" sz="2400" dirty="0" smtClean="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GB" sz="2400" dirty="0" smtClean="0">
                <a:latin typeface="Times New Roman" panose="02020603050405020304" charset="0"/>
                <a:cs typeface="Times New Roman" panose="02020603050405020304" charset="0"/>
              </a:rPr>
              <a:t>Academic </a:t>
            </a:r>
            <a:r>
              <a:rPr lang="en-US" altLang="en-GB" sz="2400" dirty="0">
                <a:latin typeface="Times New Roman" panose="02020603050405020304" charset="0"/>
                <a:cs typeface="Times New Roman" panose="02020603050405020304" charset="0"/>
              </a:rPr>
              <a:t>council</a:t>
            </a:r>
            <a:r>
              <a:rPr lang="en-US" altLang="en-GB" sz="2400" dirty="0" smtClean="0">
                <a:latin typeface="Times New Roman" panose="02020603050405020304" charset="0"/>
                <a:cs typeface="Times New Roman" panose="02020603050405020304" charset="0"/>
              </a:rPr>
              <a:t>:</a:t>
            </a:r>
            <a:endParaRPr lang="en-US" altLang="en-GB" sz="2400" dirty="0">
              <a:latin typeface="Times New Roman" panose="02020603050405020304" charset="0"/>
              <a:cs typeface="Times New Roman" panose="02020603050405020304" charset="0"/>
            </a:endParaRPr>
          </a:p>
        </p:txBody>
      </p:sp>
      <p:sp>
        <p:nvSpPr>
          <p:cNvPr id="6" name="Text Box 5"/>
          <p:cNvSpPr txBox="1"/>
          <p:nvPr/>
        </p:nvSpPr>
        <p:spPr>
          <a:xfrm>
            <a:off x="1818005" y="3642995"/>
            <a:ext cx="4064000" cy="368300"/>
          </a:xfrm>
          <a:prstGeom prst="rect">
            <a:avLst/>
          </a:prstGeom>
          <a:noFill/>
        </p:spPr>
        <p:txBody>
          <a:bodyPr wrap="square" rtlCol="0">
            <a:spAutoFit/>
          </a:bodyPr>
          <a:lstStyle/>
          <a:p>
            <a:endParaRPr lang="en-GB"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457325" y="566420"/>
            <a:ext cx="5987415" cy="82994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2.2. System Requirement Specification</a:t>
            </a:r>
            <a:endParaRPr lang="en-US" altLang="en-GB" sz="2400" b="1">
              <a:latin typeface="Times New Roman" panose="02020603050405020304" charset="0"/>
              <a:cs typeface="Times New Roman" panose="02020603050405020304" charset="0"/>
            </a:endParaRPr>
          </a:p>
          <a:p>
            <a:r>
              <a:rPr lang="en-US" altLang="en-GB" sz="2400" b="1">
                <a:latin typeface="Times New Roman" panose="02020603050405020304" charset="0"/>
                <a:cs typeface="Times New Roman" panose="02020603050405020304" charset="0"/>
              </a:rPr>
              <a:t>2.2.1. Functional requirement</a:t>
            </a:r>
            <a:endParaRPr lang="en-US" altLang="en-GB" sz="2400" b="1">
              <a:latin typeface="Times New Roman" panose="02020603050405020304" charset="0"/>
              <a:cs typeface="Times New Roman" panose="02020603050405020304" charset="0"/>
            </a:endParaRPr>
          </a:p>
        </p:txBody>
      </p:sp>
      <p:sp>
        <p:nvSpPr>
          <p:cNvPr id="6" name="Text Box 5"/>
          <p:cNvSpPr txBox="1"/>
          <p:nvPr/>
        </p:nvSpPr>
        <p:spPr>
          <a:xfrm>
            <a:off x="2032000" y="1471295"/>
            <a:ext cx="9007475"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a:t>
            </a:r>
            <a:r>
              <a:rPr lang="en-US" sz="2400" dirty="0" smtClean="0">
                <a:latin typeface="Times New Roman" panose="02020603050405020304" charset="0"/>
                <a:cs typeface="Times New Roman" panose="02020603050405020304" charset="0"/>
              </a:rPr>
              <a:t>allow </a:t>
            </a:r>
            <a:r>
              <a:rPr lang="en-US" sz="2400" dirty="0">
                <a:latin typeface="Times New Roman" panose="02020603050405020304" charset="0"/>
                <a:cs typeface="Times New Roman" panose="02020603050405020304" charset="0"/>
              </a:rPr>
              <a:t>admin and department head to log in using a unique username and password</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system allow </a:t>
            </a:r>
            <a:r>
              <a:rPr lang="en-US" sz="2400" dirty="0">
                <a:latin typeface="Times New Roman" panose="02020603050405020304" charset="0"/>
                <a:cs typeface="Times New Roman" panose="02020603050405020304" charset="0"/>
              </a:rPr>
              <a:t>users to view you schedule without </a:t>
            </a:r>
            <a:r>
              <a:rPr lang="en-US" sz="2400" dirty="0" smtClean="0">
                <a:latin typeface="Times New Roman" panose="02020603050405020304" charset="0"/>
                <a:cs typeface="Times New Roman" panose="02020603050405020304" charset="0"/>
              </a:rPr>
              <a:t>login.</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a:t>
            </a:r>
            <a:r>
              <a:rPr lang="en-US" sz="2400" dirty="0" smtClean="0">
                <a:latin typeface="Times New Roman" panose="02020603050405020304" charset="0"/>
                <a:cs typeface="Times New Roman" panose="02020603050405020304" charset="0"/>
              </a:rPr>
              <a:t>allow </a:t>
            </a:r>
            <a:r>
              <a:rPr lang="en-US" sz="2400" dirty="0">
                <a:latin typeface="Times New Roman" panose="02020603050405020304" charset="0"/>
                <a:cs typeface="Times New Roman" panose="02020603050405020304" charset="0"/>
              </a:rPr>
              <a:t>the Department Head to create, edit, and delete class schedules.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smtClean="0">
                <a:latin typeface="Times New Roman" panose="02020603050405020304" charset="0"/>
                <a:cs typeface="Times New Roman" panose="02020603050405020304" charset="0"/>
              </a:rPr>
              <a:t>system allow </a:t>
            </a:r>
            <a:r>
              <a:rPr lang="en-US" sz="2400" dirty="0">
                <a:latin typeface="Times New Roman" panose="02020603050405020304" charset="0"/>
                <a:cs typeface="Times New Roman" panose="02020603050405020304" charset="0"/>
              </a:rPr>
              <a:t>modifications to schedules in case of cancellations or rescheduling needs.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a:t>
            </a:r>
            <a:r>
              <a:rPr lang="en-US" sz="2400" dirty="0" smtClean="0">
                <a:latin typeface="Times New Roman" panose="02020603050405020304" charset="0"/>
                <a:cs typeface="Times New Roman" panose="02020603050405020304" charset="0"/>
              </a:rPr>
              <a:t>allow </a:t>
            </a:r>
            <a:r>
              <a:rPr lang="en-US" sz="2400" dirty="0">
                <a:latin typeface="Times New Roman" panose="02020603050405020304" charset="0"/>
                <a:cs typeface="Times New Roman" panose="02020603050405020304" charset="0"/>
              </a:rPr>
              <a:t>Department Heads to assign instructors to courses based on their availability</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system allow </a:t>
            </a:r>
            <a:r>
              <a:rPr lang="en-US" sz="2400" dirty="0">
                <a:latin typeface="Times New Roman" panose="02020603050405020304" charset="0"/>
                <a:cs typeface="Times New Roman" panose="02020603050405020304" charset="0"/>
              </a:rPr>
              <a:t>Admins to add, update, and remove department details, including department name, code, and head.</a:t>
            </a:r>
            <a:endParaRPr lang="en-US" altLang="en-GB" sz="2400"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743710" y="982345"/>
            <a:ext cx="9513570" cy="3415030"/>
          </a:xfrm>
          <a:prstGeom prst="rect">
            <a:avLst/>
          </a:prstGeom>
          <a:noFill/>
        </p:spPr>
        <p:txBody>
          <a:bodyPr wrap="square" rtlCol="0" anchor="t">
            <a:spAutoFit/>
          </a:bodyPr>
          <a:lstStyle/>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shall allow Department Heads to assign courses to batches for specific academic periods.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shall allow students and the public to view class schedules without authentication.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shall allow users and the public to submit feedback on the system or schedules.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shall allow Admins to manage user accounts, including creation, updates, and deactivation. </a:t>
            </a:r>
            <a:endParaRPr lang="en-US" sz="2400"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shall allow Admins to view and mark feedback as read</a:t>
            </a:r>
            <a:endParaRPr lang="en-US" altLang="en-GB" sz="2400" dirty="0">
              <a:latin typeface="Times New Roman" panose="02020603050405020304" charset="0"/>
              <a:cs typeface="Times New Roman" panose="02020603050405020304" charset="0"/>
              <a:sym typeface="+mn-ea"/>
            </a:endParaRPr>
          </a:p>
        </p:txBody>
      </p:sp>
      <p:sp>
        <p:nvSpPr>
          <p:cNvPr id="4" name="Text Box 3"/>
          <p:cNvSpPr txBox="1"/>
          <p:nvPr/>
        </p:nvSpPr>
        <p:spPr>
          <a:xfrm>
            <a:off x="3873500" y="286385"/>
            <a:ext cx="4064000" cy="523220"/>
          </a:xfrm>
          <a:prstGeom prst="rect">
            <a:avLst/>
          </a:prstGeom>
          <a:noFill/>
        </p:spPr>
        <p:txBody>
          <a:bodyPr wrap="square" rtlCol="0">
            <a:spAutoFit/>
          </a:bodyPr>
          <a:lstStyle/>
          <a:p>
            <a:r>
              <a:rPr lang="en-GB" altLang="en-US" sz="2800" dirty="0"/>
              <a:t>cont...</a:t>
            </a:r>
            <a:endParaRPr lang="en-GB"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81075" y="404495"/>
            <a:ext cx="603504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2.2.2.  Non Functional Requirements</a:t>
            </a:r>
            <a:endParaRPr lang="en-US" altLang="en-GB" sz="2400" b="1">
              <a:latin typeface="Times New Roman" panose="02020603050405020304" charset="0"/>
              <a:cs typeface="Times New Roman" panose="02020603050405020304" charset="0"/>
            </a:endParaRPr>
          </a:p>
        </p:txBody>
      </p:sp>
      <p:sp>
        <p:nvSpPr>
          <p:cNvPr id="7" name="Text Box 6"/>
          <p:cNvSpPr txBox="1"/>
          <p:nvPr/>
        </p:nvSpPr>
        <p:spPr>
          <a:xfrm>
            <a:off x="1657350" y="995045"/>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Scalability</a:t>
            </a:r>
            <a:endParaRPr lang="en-US" altLang="en-GB" sz="2400" b="1">
              <a:latin typeface="Times New Roman" panose="02020603050405020304" charset="0"/>
              <a:cs typeface="Times New Roman" panose="02020603050405020304" charset="0"/>
            </a:endParaRPr>
          </a:p>
        </p:txBody>
      </p:sp>
      <p:sp>
        <p:nvSpPr>
          <p:cNvPr id="8" name="Text Box 7"/>
          <p:cNvSpPr txBox="1"/>
          <p:nvPr/>
        </p:nvSpPr>
        <p:spPr>
          <a:xfrm>
            <a:off x="1966595" y="1455420"/>
            <a:ext cx="8368665" cy="1568450"/>
          </a:xfrm>
          <a:prstGeom prst="rect">
            <a:avLst/>
          </a:prstGeom>
          <a:noFill/>
        </p:spPr>
        <p:txBody>
          <a:bodyPr wrap="square" rtlCol="0">
            <a:sp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The system is designed to handle an increasing number of users and data as the</a:t>
            </a: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institution grows.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It should maintain performance efficiency even as the workload expands.</a:t>
            </a:r>
            <a:endParaRPr lang="en-US" altLang="en-GB" sz="2400">
              <a:latin typeface="Times New Roman" panose="02020603050405020304" charset="0"/>
              <a:cs typeface="Times New Roman" panose="02020603050405020304" charset="0"/>
            </a:endParaRPr>
          </a:p>
        </p:txBody>
      </p:sp>
      <p:sp>
        <p:nvSpPr>
          <p:cNvPr id="9" name="Text Box 8"/>
          <p:cNvSpPr txBox="1"/>
          <p:nvPr/>
        </p:nvSpPr>
        <p:spPr>
          <a:xfrm>
            <a:off x="1628775" y="3060700"/>
            <a:ext cx="4064000" cy="460375"/>
          </a:xfrm>
          <a:prstGeom prst="rect">
            <a:avLst/>
          </a:prstGeom>
          <a:noFill/>
        </p:spPr>
        <p:txBody>
          <a:bodyPr wrap="square" rtlCol="0">
            <a:spAutoFit/>
          </a:bodyPr>
          <a:lstStyle/>
          <a:p>
            <a:r>
              <a:rPr lang="en-GB" altLang="en-US" sz="2400" b="1">
                <a:latin typeface="Times New Roman" panose="02020603050405020304" charset="0"/>
                <a:cs typeface="Times New Roman" panose="02020603050405020304" charset="0"/>
              </a:rPr>
              <a:t> </a:t>
            </a:r>
            <a:r>
              <a:rPr lang="en-US" altLang="en-GB" sz="2400" b="1">
                <a:latin typeface="Times New Roman" panose="02020603050405020304" charset="0"/>
                <a:cs typeface="Times New Roman" panose="02020603050405020304" charset="0"/>
              </a:rPr>
              <a:t>Maintainability</a:t>
            </a:r>
            <a:endParaRPr lang="en-US" altLang="en-GB" sz="2400" b="1">
              <a:latin typeface="Times New Roman" panose="02020603050405020304" charset="0"/>
              <a:cs typeface="Times New Roman" panose="02020603050405020304" charset="0"/>
            </a:endParaRPr>
          </a:p>
        </p:txBody>
      </p:sp>
      <p:sp>
        <p:nvSpPr>
          <p:cNvPr id="11" name="Text Box 10"/>
          <p:cNvSpPr txBox="1"/>
          <p:nvPr/>
        </p:nvSpPr>
        <p:spPr>
          <a:xfrm>
            <a:off x="1966595" y="3521075"/>
            <a:ext cx="8368665" cy="1517650"/>
          </a:xfrm>
          <a:prstGeom prst="rect">
            <a:avLst/>
          </a:prstGeom>
          <a:noFill/>
        </p:spPr>
        <p:txBody>
          <a:bodyPr wrap="square" rtlCol="0">
            <a:no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The system will be easy to update and debug without disrupting operations.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Well-structured documentation and modular design will help developers make future modifications easily.</a:t>
            </a:r>
            <a:endParaRPr lang="en-US" altLang="en-GB" sz="2400">
              <a:latin typeface="Times New Roman" panose="02020603050405020304" charset="0"/>
              <a:cs typeface="Times New Roman" panose="02020603050405020304" charset="0"/>
            </a:endParaRPr>
          </a:p>
        </p:txBody>
      </p:sp>
      <p:sp>
        <p:nvSpPr>
          <p:cNvPr id="12" name="Text Box 11"/>
          <p:cNvSpPr txBox="1"/>
          <p:nvPr/>
        </p:nvSpPr>
        <p:spPr>
          <a:xfrm>
            <a:off x="1657350" y="5186045"/>
            <a:ext cx="8677910" cy="82994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Availability</a:t>
            </a:r>
            <a:r>
              <a:rPr lang="en-GB" altLang="en-US" sz="2400" b="1">
                <a:latin typeface="Times New Roman" panose="02020603050405020304" charset="0"/>
                <a:cs typeface="Times New Roman" panose="02020603050405020304" charset="0"/>
              </a:rPr>
              <a:t>:</a:t>
            </a: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The system should be accessible at all times, </a:t>
            </a: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ensuring minimal downtime.</a:t>
            </a: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97342" y="290195"/>
            <a:ext cx="4463415" cy="527050"/>
          </a:xfrm>
          <a:prstGeom prst="rect">
            <a:avLst/>
          </a:prstGeom>
          <a:noFill/>
        </p:spPr>
        <p:txBody>
          <a:bodyPr wrap="square" rtlCol="0">
            <a:noAutofit/>
          </a:bodyPr>
          <a:lstStyle/>
          <a:p>
            <a:r>
              <a:rPr lang="en-US" altLang="en-GB" sz="2400" b="1">
                <a:latin typeface="Times New Roman" panose="02020603050405020304" charset="0"/>
                <a:cs typeface="Times New Roman" panose="02020603050405020304" charset="0"/>
              </a:rPr>
              <a:t>Compatibility</a:t>
            </a:r>
            <a:endParaRPr lang="en-US" altLang="en-GB" sz="2400" b="1">
              <a:latin typeface="Times New Roman" panose="02020603050405020304" charset="0"/>
              <a:cs typeface="Times New Roman" panose="02020603050405020304" charset="0"/>
            </a:endParaRPr>
          </a:p>
        </p:txBody>
      </p:sp>
      <p:sp>
        <p:nvSpPr>
          <p:cNvPr id="3" name="Text Box 2"/>
          <p:cNvSpPr txBox="1"/>
          <p:nvPr/>
        </p:nvSpPr>
        <p:spPr>
          <a:xfrm>
            <a:off x="2057400" y="931545"/>
            <a:ext cx="8006715" cy="1461135"/>
          </a:xfrm>
          <a:prstGeom prst="rect">
            <a:avLst/>
          </a:prstGeom>
          <a:noFill/>
        </p:spPr>
        <p:txBody>
          <a:bodyPr wrap="square" rtlCol="0">
            <a:no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The system will work across different web browsers and devices.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It will be compatible with various operating systems to enhance accessibility.</a:t>
            </a:r>
            <a:endParaRPr lang="en-US" altLang="en-GB" sz="2400">
              <a:latin typeface="Times New Roman" panose="02020603050405020304" charset="0"/>
              <a:cs typeface="Times New Roman" panose="02020603050405020304" charset="0"/>
            </a:endParaRPr>
          </a:p>
        </p:txBody>
      </p:sp>
      <p:sp>
        <p:nvSpPr>
          <p:cNvPr id="4" name="Text Box 3"/>
          <p:cNvSpPr txBox="1"/>
          <p:nvPr/>
        </p:nvSpPr>
        <p:spPr>
          <a:xfrm>
            <a:off x="2057400" y="3016250"/>
            <a:ext cx="7729855" cy="1404620"/>
          </a:xfrm>
          <a:prstGeom prst="rect">
            <a:avLst/>
          </a:prstGeom>
          <a:noFill/>
        </p:spPr>
        <p:txBody>
          <a:bodyPr wrap="square" rtlCol="0">
            <a:noAutofit/>
          </a:bodyPr>
          <a:lstStyle/>
          <a:p>
            <a:pPr marL="285750" indent="-285750">
              <a:buFont typeface="Arial" panose="020B0604020202020204" pitchFamily="34" charset="0"/>
              <a:buChar char="•"/>
            </a:pPr>
            <a:r>
              <a:rPr lang="en-US" altLang="en-GB" sz="2400" dirty="0">
                <a:latin typeface="Times New Roman" panose="02020603050405020304" charset="0"/>
                <a:cs typeface="Times New Roman" panose="02020603050405020304" charset="0"/>
              </a:rPr>
              <a:t>The system will ensure accurate and consistent data is stored and </a:t>
            </a:r>
            <a:r>
              <a:rPr lang="en-GB" altLang="en-US" sz="2400" dirty="0">
                <a:latin typeface="Times New Roman" panose="02020603050405020304" charset="0"/>
                <a:cs typeface="Times New Roman" panose="02020603050405020304" charset="0"/>
              </a:rPr>
              <a:t>        </a:t>
            </a:r>
            <a:r>
              <a:rPr lang="en-US" altLang="en-GB" sz="2400" dirty="0">
                <a:latin typeface="Times New Roman" panose="02020603050405020304" charset="0"/>
                <a:cs typeface="Times New Roman" panose="02020603050405020304" charset="0"/>
              </a:rPr>
              <a:t>retrieved.</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rPr>
              <a:t>Measures will be in place to prevent duplication, loss, or corruption of data.</a:t>
            </a:r>
            <a:endParaRPr lang="en-GB" altLang="en-US" sz="2400" dirty="0">
              <a:latin typeface="Times New Roman" panose="02020603050405020304" charset="0"/>
              <a:cs typeface="Times New Roman" panose="02020603050405020304" charset="0"/>
            </a:endParaRPr>
          </a:p>
        </p:txBody>
      </p:sp>
      <p:sp>
        <p:nvSpPr>
          <p:cNvPr id="6" name="Text Box 5"/>
          <p:cNvSpPr txBox="1"/>
          <p:nvPr/>
        </p:nvSpPr>
        <p:spPr>
          <a:xfrm>
            <a:off x="1534160" y="2465705"/>
            <a:ext cx="4215765" cy="488315"/>
          </a:xfrm>
          <a:prstGeom prst="rect">
            <a:avLst/>
          </a:prstGeom>
          <a:noFill/>
        </p:spPr>
        <p:txBody>
          <a:bodyPr wrap="square" rtlCol="0">
            <a:noAutofit/>
          </a:bodyPr>
          <a:lstStyle/>
          <a:p>
            <a:r>
              <a:rPr lang="en-US" altLang="en-GB" sz="2400" b="1">
                <a:latin typeface="Times New Roman" panose="02020603050405020304" charset="0"/>
                <a:cs typeface="Times New Roman" panose="02020603050405020304" charset="0"/>
                <a:sym typeface="+mn-ea"/>
              </a:rPr>
              <a:t>Data Integrity</a:t>
            </a:r>
            <a:endParaRPr lang="en-US" altLang="en-GB" sz="2400" b="1">
              <a:latin typeface="Times New Roman" panose="02020603050405020304" charset="0"/>
              <a:cs typeface="Times New Roman" panose="02020603050405020304" charset="0"/>
            </a:endParaRPr>
          </a:p>
          <a:p>
            <a:endParaRPr lang="en-GB" altLang="en-US" sz="2400" b="1">
              <a:latin typeface="Times New Roman" panose="02020603050405020304" charset="0"/>
              <a:cs typeface="Times New Roman" panose="02020603050405020304" charset="0"/>
            </a:endParaRPr>
          </a:p>
        </p:txBody>
      </p:sp>
      <p:sp>
        <p:nvSpPr>
          <p:cNvPr id="9" name="Text Box 8"/>
          <p:cNvSpPr txBox="1"/>
          <p:nvPr/>
        </p:nvSpPr>
        <p:spPr>
          <a:xfrm>
            <a:off x="4162425" y="185420"/>
            <a:ext cx="4064000" cy="368300"/>
          </a:xfrm>
          <a:prstGeom prst="rect">
            <a:avLst/>
          </a:prstGeom>
          <a:noFill/>
        </p:spPr>
        <p:txBody>
          <a:bodyPr wrap="square" rtlCol="0">
            <a:spAutoFit/>
          </a:bodyPr>
          <a:lstStyle/>
          <a:p>
            <a:r>
              <a:rPr lang="en-GB" altLang="en-US" dirty="0"/>
              <a:t>cont..</a:t>
            </a:r>
            <a:endParaRPr lang="en-GB" altLang="en-US" dirty="0"/>
          </a:p>
        </p:txBody>
      </p:sp>
      <p:sp>
        <p:nvSpPr>
          <p:cNvPr id="10" name="Text Box 9"/>
          <p:cNvSpPr txBox="1"/>
          <p:nvPr/>
        </p:nvSpPr>
        <p:spPr>
          <a:xfrm>
            <a:off x="1533525" y="4614545"/>
            <a:ext cx="8073390" cy="461010"/>
          </a:xfrm>
          <a:prstGeom prst="rect">
            <a:avLst/>
          </a:prstGeom>
          <a:noFill/>
        </p:spPr>
        <p:txBody>
          <a:bodyPr wrap="square" rtlCol="0">
            <a:noAutofit/>
          </a:bodyPr>
          <a:lstStyle/>
          <a:p>
            <a:r>
              <a:rPr lang="en-US" altLang="en-GB" sz="2400" b="1">
                <a:latin typeface="Times New Roman" panose="02020603050405020304" charset="0"/>
                <a:cs typeface="Times New Roman" panose="02020603050405020304" charset="0"/>
              </a:rPr>
              <a:t>Efficiency</a:t>
            </a:r>
            <a:r>
              <a:rPr lang="en-GB" altLang="en-US" sz="2400" b="1">
                <a:latin typeface="Times New Roman" panose="02020603050405020304" charset="0"/>
                <a:cs typeface="Times New Roman" panose="02020603050405020304" charset="0"/>
              </a:rPr>
              <a:t> : </a:t>
            </a:r>
            <a:r>
              <a:rPr lang="en-US" altLang="en-GB" sz="2400">
                <a:latin typeface="Times New Roman" panose="02020603050405020304" charset="0"/>
                <a:cs typeface="Times New Roman" panose="02020603050405020304" charset="0"/>
              </a:rPr>
              <a:t>It will ensure minimal response time for </a:t>
            </a:r>
            <a:r>
              <a:rPr lang="en-GB" altLang="en-US" sz="2400">
                <a:latin typeface="Times New Roman" panose="02020603050405020304" charset="0"/>
                <a:cs typeface="Times New Roman" panose="02020603050405020304" charset="0"/>
              </a:rPr>
              <a:t>    </a:t>
            </a:r>
            <a:r>
              <a:rPr lang="en-US" altLang="en-GB" sz="2400">
                <a:latin typeface="Times New Roman" panose="02020603050405020304" charset="0"/>
                <a:cs typeface="Times New Roman" panose="02020603050405020304" charset="0"/>
              </a:rPr>
              <a:t>scheduling tasks.</a:t>
            </a:r>
            <a:endParaRPr lang="en-US" altLang="en-GB" sz="2400">
              <a:latin typeface="Times New Roman" panose="02020603050405020304" charset="0"/>
              <a:cs typeface="Times New Roman" panose="02020603050405020304" charset="0"/>
            </a:endParaRPr>
          </a:p>
        </p:txBody>
      </p:sp>
      <p:sp>
        <p:nvSpPr>
          <p:cNvPr id="13" name="Text Box 12"/>
          <p:cNvSpPr txBox="1"/>
          <p:nvPr/>
        </p:nvSpPr>
        <p:spPr>
          <a:xfrm>
            <a:off x="5876925" y="2652395"/>
            <a:ext cx="4064000" cy="368300"/>
          </a:xfrm>
          <a:prstGeom prst="rect">
            <a:avLst/>
          </a:prstGeom>
          <a:noFill/>
        </p:spPr>
        <p:txBody>
          <a:bodyPr wrap="square" rtlCol="0">
            <a:spAutoFit/>
          </a:bodyPr>
          <a:lstStyle/>
          <a:p>
            <a:endParaRPr lang="en-GB"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838200" y="39497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2.2.3.   Business Rules</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1270635" y="1030605"/>
            <a:ext cx="8993505" cy="4718050"/>
          </a:xfrm>
          <a:prstGeom prst="rect">
            <a:avLst/>
          </a:prstGeom>
          <a:noFill/>
        </p:spPr>
        <p:txBody>
          <a:bodyPr wrap="square" rtlCol="0">
            <a:noAutofit/>
          </a:bodyPr>
          <a:lstStyle/>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Users </a:t>
            </a:r>
            <a:r>
              <a:rPr lang="en-US" sz="2400" dirty="0">
                <a:latin typeface="Times New Roman" panose="02020603050405020304" charset="0"/>
                <a:cs typeface="Times New Roman" panose="02020603050405020304" charset="0"/>
              </a:rPr>
              <a:t>of the system must have a valid account with a unique username and password to access role-specific functionalities. </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must validate user information during registration, ensuring completeness and uniqueness of username and email before granting access</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The </a:t>
            </a:r>
            <a:r>
              <a:rPr lang="en-US" sz="2400" dirty="0">
                <a:latin typeface="Times New Roman" panose="02020603050405020304" charset="0"/>
                <a:cs typeface="Times New Roman" panose="02020603050405020304" charset="0"/>
              </a:rPr>
              <a:t>system must require inputs for courses, instructors, rooms, sections, academic periods, and student counts to create class schedules. </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Each </a:t>
            </a:r>
            <a:r>
              <a:rPr lang="en-US" sz="2400" dirty="0">
                <a:latin typeface="Times New Roman" panose="02020603050405020304" charset="0"/>
                <a:cs typeface="Times New Roman" panose="02020603050405020304" charset="0"/>
              </a:rPr>
              <a:t>course, instructor, room, and department must have a unique identifier to ensure data integrity</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Department </a:t>
            </a:r>
            <a:r>
              <a:rPr lang="en-US" sz="2400" dirty="0">
                <a:latin typeface="Times New Roman" panose="02020603050405020304" charset="0"/>
                <a:cs typeface="Times New Roman" panose="02020603050405020304" charset="0"/>
              </a:rPr>
              <a:t>Heads must assign instructors from their own department to courses and </a:t>
            </a:r>
            <a:r>
              <a:rPr lang="en-US" sz="2400" dirty="0" smtClean="0">
                <a:latin typeface="Times New Roman" panose="02020603050405020304" charset="0"/>
                <a:cs typeface="Times New Roman" panose="02020603050405020304" charset="0"/>
              </a:rPr>
              <a:t>sections</a:t>
            </a:r>
            <a:endParaRPr lang="en-US" sz="2400" dirty="0" smtClean="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7158" y="1273629"/>
            <a:ext cx="8817428" cy="2676525"/>
          </a:xfrm>
          <a:prstGeom prst="rect">
            <a:avLst/>
          </a:prstGeom>
        </p:spPr>
        <p:txBody>
          <a:bodyPr wrap="square">
            <a:spAutoFit/>
          </a:bodyPr>
          <a:lstStyle/>
          <a:p>
            <a:pPr marL="285750" indent="-285750">
              <a:buFont typeface="Arial" panose="020B0604020202020204" pitchFamily="34" charset="0"/>
              <a:buChar char="•"/>
            </a:pPr>
            <a:r>
              <a:rPr lang="en-US" sz="2000" dirty="0" smtClean="0"/>
              <a:t> </a:t>
            </a:r>
            <a:r>
              <a:rPr lang="en-US" sz="2400" dirty="0">
                <a:latin typeface="Times New Roman" panose="02020603050405020304" charset="0"/>
                <a:cs typeface="Times New Roman" panose="02020603050405020304" charset="0"/>
              </a:rPr>
              <a:t>Class schedules must be prepared and finalized before the start of each semester. </a:t>
            </a:r>
            <a:endParaRPr lang="en-US" sz="24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Only </a:t>
            </a:r>
            <a:r>
              <a:rPr lang="en-US" sz="2400" dirty="0">
                <a:latin typeface="Times New Roman" panose="02020603050405020304" charset="0"/>
                <a:cs typeface="Times New Roman" panose="02020603050405020304" charset="0"/>
              </a:rPr>
              <a:t>Admins can create, update, or deactivate user accounts and manage department details</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Feedback </a:t>
            </a:r>
            <a:r>
              <a:rPr lang="en-US" sz="2400" dirty="0">
                <a:latin typeface="Times New Roman" panose="02020603050405020304" charset="0"/>
                <a:cs typeface="Times New Roman" panose="02020603050405020304" charset="0"/>
              </a:rPr>
              <a:t>submitted by users or the public must be stored and made available for Admin review</a:t>
            </a:r>
            <a:r>
              <a:rPr lang="en-US" sz="2400" dirty="0" smtClean="0">
                <a:latin typeface="Times New Roman" panose="02020603050405020304" charset="0"/>
                <a:cs typeface="Times New Roman" panose="02020603050405020304" charset="0"/>
              </a:rPr>
              <a:t>.</a:t>
            </a:r>
            <a:endParaRPr lang="en-US" sz="2400" dirty="0" smtClean="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400" dirty="0" smtClean="0">
                <a:latin typeface="Times New Roman" panose="02020603050405020304" charset="0"/>
                <a:cs typeface="Times New Roman" panose="02020603050405020304" charset="0"/>
              </a:rPr>
              <a:t>Public </a:t>
            </a:r>
            <a:r>
              <a:rPr lang="en-US" sz="2400" dirty="0">
                <a:latin typeface="Times New Roman" panose="02020603050405020304" charset="0"/>
                <a:cs typeface="Times New Roman" panose="02020603050405020304" charset="0"/>
              </a:rPr>
              <a:t>schedule viewing must not require user authentication</a:t>
            </a:r>
            <a:endParaRPr lang="en-US" altLang="en-GB" sz="2400" dirty="0">
              <a:latin typeface="Times New Roman" panose="02020603050405020304" charset="0"/>
              <a:cs typeface="Times New Roman" panose="02020603050405020304" charset="0"/>
            </a:endParaRPr>
          </a:p>
        </p:txBody>
      </p:sp>
      <p:sp>
        <p:nvSpPr>
          <p:cNvPr id="3" name="Text Box 8"/>
          <p:cNvSpPr txBox="1"/>
          <p:nvPr/>
        </p:nvSpPr>
        <p:spPr>
          <a:xfrm>
            <a:off x="3314700" y="236583"/>
            <a:ext cx="4691289" cy="523220"/>
          </a:xfrm>
          <a:prstGeom prst="rect">
            <a:avLst/>
          </a:prstGeom>
          <a:noFill/>
        </p:spPr>
        <p:txBody>
          <a:bodyPr wrap="square" rtlCol="0">
            <a:spAutoFit/>
          </a:bodyPr>
          <a:lstStyle/>
          <a:p>
            <a:r>
              <a:rPr lang="en-GB" altLang="en-US" sz="2800" dirty="0"/>
              <a:t>cont..</a:t>
            </a:r>
            <a:endParaRPr lang="en-GB"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95400" y="35687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2.2.4 Change Cases</a:t>
            </a:r>
            <a:endParaRPr lang="en-US" altLang="en-GB" sz="2400" b="1">
              <a:latin typeface="Times New Roman" panose="02020603050405020304" charset="0"/>
              <a:cs typeface="Times New Roman" panose="02020603050405020304" charset="0"/>
            </a:endParaRPr>
          </a:p>
        </p:txBody>
      </p:sp>
      <p:sp>
        <p:nvSpPr>
          <p:cNvPr id="5" name="Text Box 4"/>
          <p:cNvSpPr txBox="1"/>
          <p:nvPr/>
        </p:nvSpPr>
        <p:spPr>
          <a:xfrm>
            <a:off x="1790700" y="985520"/>
            <a:ext cx="7797165" cy="1938020"/>
          </a:xfrm>
          <a:prstGeom prst="rect">
            <a:avLst/>
          </a:prstGeom>
          <a:noFill/>
        </p:spPr>
        <p:txBody>
          <a:bodyPr wrap="square" rtlCol="0">
            <a:spAutoFit/>
          </a:bodyPr>
          <a:lstStyle/>
          <a:p>
            <a:pPr marL="342900" indent="-342900" algn="l">
              <a:buFont typeface="Arial" panose="020B0604020202020204" pitchFamily="34" charset="0"/>
              <a:buChar char="•"/>
            </a:pPr>
            <a:r>
              <a:rPr lang="en-US" altLang="en-GB" sz="2400">
                <a:latin typeface="Times New Roman" panose="02020603050405020304" charset="0"/>
                <a:cs typeface="Times New Roman" panose="02020603050405020304" charset="0"/>
              </a:rPr>
              <a:t>Address new potential requirements or modifications to the system.</a:t>
            </a:r>
            <a:endParaRPr lang="en-US" altLang="en-GB" sz="24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altLang="en-GB" sz="2400">
                <a:latin typeface="Times New Roman" panose="02020603050405020304" charset="0"/>
                <a:cs typeface="Times New Roman" panose="02020603050405020304" charset="0"/>
              </a:rPr>
              <a:t>Designed to support future changes at Debre Markos University Bure Campus.</a:t>
            </a:r>
            <a:endParaRPr lang="en-US" altLang="en-GB" sz="2400">
              <a:latin typeface="Times New Roman" panose="02020603050405020304" charset="0"/>
              <a:cs typeface="Times New Roman" panose="02020603050405020304" charset="0"/>
            </a:endParaRPr>
          </a:p>
          <a:p>
            <a:pPr marL="342900" indent="-342900" algn="l">
              <a:buFont typeface="Arial" panose="020B0604020202020204" pitchFamily="34" charset="0"/>
              <a:buChar char="•"/>
            </a:pPr>
            <a:r>
              <a:rPr lang="en-US" altLang="en-GB" sz="2400">
                <a:latin typeface="Times New Roman" panose="02020603050405020304" charset="0"/>
                <a:cs typeface="Times New Roman" panose="02020603050405020304" charset="0"/>
              </a:rPr>
              <a:t>Ensure the system remains flexible and adaptable.</a:t>
            </a:r>
            <a:endParaRPr lang="en-US" altLang="en-GB" sz="2400">
              <a:latin typeface="Times New Roman" panose="02020603050405020304" charset="0"/>
              <a:cs typeface="Times New Roman" panose="02020603050405020304" charset="0"/>
            </a:endParaRPr>
          </a:p>
        </p:txBody>
      </p:sp>
      <p:sp>
        <p:nvSpPr>
          <p:cNvPr id="6" name="Text Box 5"/>
          <p:cNvSpPr txBox="1"/>
          <p:nvPr/>
        </p:nvSpPr>
        <p:spPr>
          <a:xfrm>
            <a:off x="2181860" y="2997200"/>
            <a:ext cx="7406005" cy="1842770"/>
          </a:xfrm>
          <a:prstGeom prst="rect">
            <a:avLst/>
          </a:prstGeom>
          <a:noFill/>
        </p:spPr>
        <p:txBody>
          <a:bodyPr wrap="square" rtlCol="0">
            <a:noAutofit/>
          </a:bodyPr>
          <a:lstStyle/>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rPr>
              <a:t>When new buildings are constructed, the system allows adding building information.</a:t>
            </a:r>
            <a:endParaRPr lang="en-US" altLang="en-GB" sz="2400">
              <a:latin typeface="Times New Roman" panose="02020603050405020304" charset="0"/>
              <a:cs typeface="Times New Roman" panose="02020603050405020304" charset="0"/>
            </a:endParaRPr>
          </a:p>
          <a:p>
            <a:pPr marL="342900" indent="-342900">
              <a:buFont typeface="Wingdings" panose="05000000000000000000" charset="0"/>
              <a:buChar char="ü"/>
            </a:pPr>
            <a:r>
              <a:rPr lang="en-US" altLang="en-GB" sz="2400">
                <a:latin typeface="Times New Roman" panose="02020603050405020304" charset="0"/>
                <a:cs typeface="Times New Roman" panose="02020603050405020304" charset="0"/>
              </a:rPr>
              <a:t>When buildings become non-functional, the system supports deleting building records.</a:t>
            </a: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91870" y="499745"/>
            <a:ext cx="5691505"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2.3.</a:t>
            </a:r>
            <a:r>
              <a:rPr lang="en-GB" altLang="en-US" sz="2400" b="1">
                <a:latin typeface="Times New Roman" panose="02020603050405020304" charset="0"/>
                <a:cs typeface="Times New Roman" panose="02020603050405020304" charset="0"/>
              </a:rPr>
              <a:t> </a:t>
            </a:r>
            <a:r>
              <a:rPr lang="en-US" altLang="en-GB" sz="2400" b="1">
                <a:latin typeface="Times New Roman" panose="02020603050405020304" charset="0"/>
                <a:cs typeface="Times New Roman" panose="02020603050405020304" charset="0"/>
              </a:rPr>
              <a:t>System requirement analysis</a:t>
            </a:r>
            <a:endParaRPr lang="en-US" altLang="en-GB" sz="2400" b="1">
              <a:latin typeface="Times New Roman" panose="02020603050405020304" charset="0"/>
              <a:cs typeface="Times New Roman" panose="02020603050405020304" charset="0"/>
            </a:endParaRPr>
          </a:p>
        </p:txBody>
      </p:sp>
      <p:sp>
        <p:nvSpPr>
          <p:cNvPr id="3" name="Text Box 2"/>
          <p:cNvSpPr txBox="1"/>
          <p:nvPr/>
        </p:nvSpPr>
        <p:spPr>
          <a:xfrm>
            <a:off x="991870" y="1071245"/>
            <a:ext cx="730123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2.3.1 Actors and use case identification </a:t>
            </a:r>
            <a:endParaRPr lang="en-US" altLang="en-GB" sz="2400" b="1">
              <a:latin typeface="Times New Roman" panose="02020603050405020304" charset="0"/>
              <a:cs typeface="Times New Roman" panose="02020603050405020304" charset="0"/>
            </a:endParaRPr>
          </a:p>
        </p:txBody>
      </p:sp>
      <p:sp>
        <p:nvSpPr>
          <p:cNvPr id="4" name="Text Box 3"/>
          <p:cNvSpPr txBox="1"/>
          <p:nvPr/>
        </p:nvSpPr>
        <p:spPr>
          <a:xfrm>
            <a:off x="991870" y="1626870"/>
            <a:ext cx="4615815"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Admin</a:t>
            </a:r>
            <a:r>
              <a:rPr lang="en-GB" altLang="en-US" sz="2400" b="1">
                <a:latin typeface="Times New Roman" panose="02020603050405020304" charset="0"/>
                <a:cs typeface="Times New Roman" panose="02020603050405020304" charset="0"/>
              </a:rPr>
              <a:t>:- role :</a:t>
            </a:r>
            <a:r>
              <a:rPr lang="en-GB" altLang="en-US" sz="2400">
                <a:latin typeface="Times New Roman" panose="02020603050405020304" charset="0"/>
                <a:cs typeface="Times New Roman" panose="02020603050405020304" charset="0"/>
              </a:rPr>
              <a:t> </a:t>
            </a:r>
            <a:endParaRPr lang="en-GB" altLang="en-US" sz="2400">
              <a:latin typeface="Times New Roman" panose="02020603050405020304" charset="0"/>
              <a:cs typeface="Times New Roman" panose="02020603050405020304" charset="0"/>
            </a:endParaRPr>
          </a:p>
        </p:txBody>
      </p:sp>
      <p:sp>
        <p:nvSpPr>
          <p:cNvPr id="5" name="Text Box 4"/>
          <p:cNvSpPr txBox="1"/>
          <p:nvPr/>
        </p:nvSpPr>
        <p:spPr>
          <a:xfrm>
            <a:off x="2847975" y="1660525"/>
            <a:ext cx="6720840" cy="2676525"/>
          </a:xfrm>
          <a:prstGeom prst="rect">
            <a:avLst/>
          </a:prstGeom>
          <a:noFill/>
        </p:spPr>
        <p:txBody>
          <a:bodyPr wrap="square" rtlCol="0">
            <a:spAutoFit/>
          </a:bodyPr>
          <a:lstStyle/>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Sign in the  system</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Register building information (building number, floor number, room name).</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Set academic dates (academic year, semester start and end dates).</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Delete user accounts.</a:t>
            </a:r>
            <a:endParaRPr lang="en-US" altLang="en-GB" sz="24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sz="2400">
                <a:latin typeface="Times New Roman" panose="02020603050405020304" charset="0"/>
                <a:cs typeface="Times New Roman" panose="02020603050405020304" charset="0"/>
              </a:rPr>
              <a:t>View  feedback from student and instructors.</a:t>
            </a:r>
            <a:endParaRPr lang="en-GB" altLang="en-US" sz="24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57225" y="652145"/>
            <a:ext cx="4064000" cy="460375"/>
          </a:xfrm>
          <a:prstGeom prst="rect">
            <a:avLst/>
          </a:prstGeom>
          <a:noFill/>
        </p:spPr>
        <p:txBody>
          <a:bodyPr wrap="square" rtlCol="0">
            <a:spAutoFit/>
          </a:bodyPr>
          <a:lstStyle/>
          <a:p>
            <a:r>
              <a:rPr lang="en-GB" altLang="en-US" sz="2400" b="1">
                <a:latin typeface="Times New Roman" panose="02020603050405020304" charset="0"/>
                <a:cs typeface="Times New Roman" panose="02020603050405020304" charset="0"/>
              </a:rPr>
              <a:t>D.head:-role</a:t>
            </a:r>
            <a:r>
              <a:rPr lang="en-GB" altLang="en-US" sz="2400">
                <a:latin typeface="Times New Roman" panose="02020603050405020304" charset="0"/>
                <a:cs typeface="Times New Roman" panose="02020603050405020304" charset="0"/>
              </a:rPr>
              <a:t> : </a:t>
            </a:r>
            <a:endParaRPr lang="en-GB" altLang="en-US" sz="2400">
              <a:latin typeface="Times New Roman" panose="02020603050405020304" charset="0"/>
              <a:cs typeface="Times New Roman" panose="02020603050405020304" charset="0"/>
            </a:endParaRPr>
          </a:p>
        </p:txBody>
      </p:sp>
      <p:sp>
        <p:nvSpPr>
          <p:cNvPr id="5" name="Text Box 4"/>
          <p:cNvSpPr txBox="1"/>
          <p:nvPr/>
        </p:nvSpPr>
        <p:spPr>
          <a:xfrm>
            <a:off x="2524125" y="652145"/>
            <a:ext cx="7614285" cy="3876675"/>
          </a:xfrm>
          <a:prstGeom prst="rect">
            <a:avLst/>
          </a:prstGeom>
          <a:noFill/>
        </p:spPr>
        <p:txBody>
          <a:bodyPr wrap="square" rtlCol="0">
            <a:noAutofit/>
          </a:bodyPr>
          <a:lstStyle/>
          <a:p>
            <a:pPr marL="285750" indent="-285750">
              <a:buFont typeface="Arial" panose="020B0604020202020204" pitchFamily="34" charset="0"/>
              <a:buChar char="•"/>
            </a:pPr>
            <a:r>
              <a:rPr lang="en-US" altLang="en-GB" sz="2400" dirty="0">
                <a:latin typeface="Times New Roman" panose="02020603050405020304" charset="0"/>
                <a:cs typeface="Times New Roman" panose="02020603050405020304" charset="0"/>
              </a:rPr>
              <a:t>Sign in to the system</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smtClean="0">
                <a:latin typeface="Times New Roman" panose="02020603050405020304" charset="0"/>
                <a:cs typeface="Times New Roman" panose="02020603050405020304" charset="0"/>
              </a:rPr>
              <a:t>Submit </a:t>
            </a:r>
            <a:r>
              <a:rPr lang="en-US" altLang="en-GB" sz="2400" dirty="0">
                <a:latin typeface="Times New Roman" panose="02020603050405020304" charset="0"/>
                <a:cs typeface="Times New Roman" panose="02020603050405020304" charset="0"/>
              </a:rPr>
              <a:t>course information (course code, course title, lecture hours, credit hours).</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rPr>
              <a:t>Assign instructors to courses.</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rPr>
              <a:t>Create and modify class schedules </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rPr>
              <a:t>Add Department Information (includes department name, department code, number of </a:t>
            </a:r>
            <a:r>
              <a:rPr lang="en-US" altLang="en-GB" sz="2400" dirty="0" err="1">
                <a:latin typeface="Times New Roman" panose="02020603050405020304" charset="0"/>
                <a:cs typeface="Times New Roman" panose="02020603050405020304" charset="0"/>
              </a:rPr>
              <a:t>students,section</a:t>
            </a:r>
            <a:r>
              <a:rPr lang="en-US" altLang="en-GB" sz="2400" dirty="0">
                <a:latin typeface="Times New Roman" panose="02020603050405020304" charset="0"/>
                <a:cs typeface="Times New Roman" panose="02020603050405020304" charset="0"/>
              </a:rPr>
              <a:t> )</a:t>
            </a:r>
            <a:endParaRPr lang="en-US" altLang="en-GB"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dirty="0">
                <a:latin typeface="Times New Roman" panose="02020603050405020304" charset="0"/>
                <a:cs typeface="Times New Roman" panose="02020603050405020304" charset="0"/>
              </a:rPr>
              <a:t>View  feedback related to schedules or system issues.</a:t>
            </a:r>
            <a:endParaRPr lang="en-GB" altLang="en-US" sz="2400" dirty="0">
              <a:latin typeface="Times New Roman" panose="02020603050405020304" charset="0"/>
              <a:cs typeface="Times New Roman" panose="02020603050405020304" charset="0"/>
            </a:endParaRPr>
          </a:p>
        </p:txBody>
      </p:sp>
      <p:sp>
        <p:nvSpPr>
          <p:cNvPr id="6" name="Text Box 5"/>
          <p:cNvSpPr txBox="1"/>
          <p:nvPr/>
        </p:nvSpPr>
        <p:spPr>
          <a:xfrm>
            <a:off x="657225" y="4595495"/>
            <a:ext cx="4064000" cy="460375"/>
          </a:xfrm>
          <a:prstGeom prst="rect">
            <a:avLst/>
          </a:prstGeom>
          <a:noFill/>
        </p:spPr>
        <p:txBody>
          <a:bodyPr wrap="square" rtlCol="0">
            <a:spAutoFit/>
          </a:bodyPr>
          <a:lstStyle/>
          <a:p>
            <a:r>
              <a:rPr lang="en-US" altLang="en-GB" sz="2400" b="1" dirty="0" smtClean="0">
                <a:latin typeface="Times New Roman" panose="02020603050405020304" charset="0"/>
                <a:cs typeface="Times New Roman" panose="02020603050405020304" charset="0"/>
              </a:rPr>
              <a:t>user</a:t>
            </a:r>
            <a:r>
              <a:rPr lang="en-GB" altLang="en-US" sz="2400" b="1" dirty="0" smtClean="0">
                <a:latin typeface="Times New Roman" panose="02020603050405020304" charset="0"/>
                <a:cs typeface="Times New Roman" panose="02020603050405020304" charset="0"/>
              </a:rPr>
              <a:t>:-</a:t>
            </a:r>
            <a:r>
              <a:rPr lang="en-GB" altLang="en-US" sz="2400" b="1" dirty="0">
                <a:latin typeface="Times New Roman" panose="02020603050405020304" charset="0"/>
                <a:cs typeface="Times New Roman" panose="02020603050405020304" charset="0"/>
              </a:rPr>
              <a:t>role</a:t>
            </a:r>
            <a:r>
              <a:rPr lang="en-GB" altLang="en-US" sz="2400" dirty="0">
                <a:latin typeface="Times New Roman" panose="02020603050405020304" charset="0"/>
                <a:cs typeface="Times New Roman" panose="02020603050405020304" charset="0"/>
              </a:rPr>
              <a:t>:</a:t>
            </a:r>
            <a:endParaRPr lang="en-GB" altLang="en-US" sz="2400" dirty="0">
              <a:latin typeface="Times New Roman" panose="02020603050405020304" charset="0"/>
              <a:cs typeface="Times New Roman" panose="02020603050405020304" charset="0"/>
            </a:endParaRPr>
          </a:p>
        </p:txBody>
      </p:sp>
      <p:sp>
        <p:nvSpPr>
          <p:cNvPr id="8" name="Text Box 7"/>
          <p:cNvSpPr txBox="1"/>
          <p:nvPr/>
        </p:nvSpPr>
        <p:spPr>
          <a:xfrm>
            <a:off x="2743200" y="4763770"/>
            <a:ext cx="6816090" cy="829945"/>
          </a:xfrm>
          <a:prstGeom prst="rect">
            <a:avLst/>
          </a:prstGeom>
          <a:noFill/>
        </p:spPr>
        <p:txBody>
          <a:bodyPr wrap="square" rtlCol="0">
            <a:spAutoFit/>
          </a:bodyPr>
          <a:lstStyle/>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View class schedules</a:t>
            </a:r>
            <a:endParaRPr lang="en-US" altLang="en-GB" sz="24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400">
                <a:latin typeface="Times New Roman" panose="02020603050405020304" charset="0"/>
                <a:cs typeface="Times New Roman" panose="02020603050405020304" charset="0"/>
              </a:rPr>
              <a:t>Send feedback on scheduling </a:t>
            </a:r>
            <a:endParaRPr lang="en-US" altLang="en-GB" sz="2400">
              <a:latin typeface="Times New Roman" panose="02020603050405020304" charset="0"/>
              <a:cs typeface="Times New Roman" panose="02020603050405020304" charset="0"/>
            </a:endParaRPr>
          </a:p>
        </p:txBody>
      </p:sp>
      <p:sp>
        <p:nvSpPr>
          <p:cNvPr id="9" name="Text Box 8"/>
          <p:cNvSpPr txBox="1"/>
          <p:nvPr/>
        </p:nvSpPr>
        <p:spPr>
          <a:xfrm>
            <a:off x="3790950" y="48895"/>
            <a:ext cx="4064000" cy="368300"/>
          </a:xfrm>
          <a:prstGeom prst="rect">
            <a:avLst/>
          </a:prstGeom>
          <a:noFill/>
        </p:spPr>
        <p:txBody>
          <a:bodyPr wrap="square" rtlCol="0">
            <a:spAutoFit/>
          </a:bodyPr>
          <a:lstStyle/>
          <a:p>
            <a:r>
              <a:rPr lang="en-GB" altLang="en-US"/>
              <a:t>cont...</a:t>
            </a:r>
            <a:endParaRPr lang="en-GB"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828925" y="23622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2.3.1.1. Use case Diagram </a:t>
            </a:r>
            <a:endParaRPr lang="en-US" altLang="en-GB" sz="2400" b="1">
              <a:latin typeface="Times New Roman" panose="02020603050405020304" charset="0"/>
              <a:cs typeface="Times New Roman" panose="02020603050405020304" charset="0"/>
            </a:endParaRPr>
          </a:p>
        </p:txBody>
      </p:sp>
      <p:pic>
        <p:nvPicPr>
          <p:cNvPr id="5" name="Picture 4" descr="IMG_256"/>
          <p:cNvPicPr/>
          <p:nvPr/>
        </p:nvPicPr>
        <p:blipFill>
          <a:blip r:embed="rId1"/>
          <a:stretch>
            <a:fillRect/>
          </a:stretch>
        </p:blipFill>
        <p:spPr>
          <a:xfrm>
            <a:off x="2514599" y="1045029"/>
            <a:ext cx="7062107" cy="524963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781175" y="169545"/>
            <a:ext cx="4064000"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rPr>
              <a:t>2.3.1.2. Sequence Diagram</a:t>
            </a:r>
            <a:endParaRPr lang="en-US" altLang="en-GB" sz="2400">
              <a:latin typeface="Times New Roman" panose="02020603050405020304" charset="0"/>
              <a:cs typeface="Times New Roman" panose="02020603050405020304" charset="0"/>
            </a:endParaRPr>
          </a:p>
        </p:txBody>
      </p:sp>
      <p:pic>
        <p:nvPicPr>
          <p:cNvPr id="12" name="Picture 6" descr="IMG_256"/>
          <p:cNvPicPr>
            <a:picLocks noChangeAspect="1"/>
          </p:cNvPicPr>
          <p:nvPr/>
        </p:nvPicPr>
        <p:blipFill>
          <a:blip r:embed="rId1"/>
          <a:stretch>
            <a:fillRect/>
          </a:stretch>
        </p:blipFill>
        <p:spPr>
          <a:xfrm>
            <a:off x="2202180" y="1552575"/>
            <a:ext cx="7121525" cy="3886835"/>
          </a:xfrm>
          <a:prstGeom prst="rect">
            <a:avLst/>
          </a:prstGeom>
          <a:noFill/>
          <a:ln w="9525">
            <a:noFill/>
          </a:ln>
        </p:spPr>
      </p:pic>
      <p:sp>
        <p:nvSpPr>
          <p:cNvPr id="6" name="Text Box 5"/>
          <p:cNvSpPr txBox="1"/>
          <p:nvPr/>
        </p:nvSpPr>
        <p:spPr>
          <a:xfrm>
            <a:off x="2790825" y="833120"/>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Login sequence diagram</a:t>
            </a:r>
            <a:endParaRPr lang="en-US" altLang="en-GB" sz="2400" b="1">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6" descr="IMG_256"/>
          <p:cNvPicPr>
            <a:picLocks noChangeAspect="1"/>
          </p:cNvPicPr>
          <p:nvPr/>
        </p:nvPicPr>
        <p:blipFill>
          <a:blip r:embed="rId1"/>
          <a:stretch>
            <a:fillRect/>
          </a:stretch>
        </p:blipFill>
        <p:spPr>
          <a:xfrm>
            <a:off x="2038985" y="1447165"/>
            <a:ext cx="7515225" cy="3964305"/>
          </a:xfrm>
          <a:prstGeom prst="rect">
            <a:avLst/>
          </a:prstGeom>
          <a:noFill/>
          <a:ln w="9525">
            <a:noFill/>
          </a:ln>
        </p:spPr>
      </p:pic>
      <p:sp>
        <p:nvSpPr>
          <p:cNvPr id="5" name="Text Box 4"/>
          <p:cNvSpPr txBox="1"/>
          <p:nvPr/>
        </p:nvSpPr>
        <p:spPr>
          <a:xfrm>
            <a:off x="3228975" y="594995"/>
            <a:ext cx="632587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Create class schedule sequence diagram</a:t>
            </a:r>
            <a:endParaRPr lang="en-US" altLang="en-GB" sz="2400" b="1">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90700" y="271145"/>
            <a:ext cx="4064000" cy="460375"/>
          </a:xfrm>
          <a:prstGeom prst="rect">
            <a:avLst/>
          </a:prstGeom>
          <a:noFill/>
        </p:spPr>
        <p:txBody>
          <a:bodyPr wrap="square" rtlCol="0">
            <a:spAutoFit/>
          </a:bodyPr>
          <a:lstStyle/>
          <a:p>
            <a:r>
              <a:rPr lang="en-US" altLang="en-GB" sz="2400" b="1">
                <a:latin typeface="Times New Roman" panose="02020603050405020304" charset="0"/>
                <a:cs typeface="Times New Roman" panose="02020603050405020304" charset="0"/>
              </a:rPr>
              <a:t>2.3.1.3.Activity Diagram</a:t>
            </a:r>
            <a:endParaRPr lang="en-US" altLang="en-GB" sz="2400" b="1">
              <a:latin typeface="Times New Roman" panose="02020603050405020304" charset="0"/>
              <a:cs typeface="Times New Roman" panose="02020603050405020304" charset="0"/>
            </a:endParaRPr>
          </a:p>
        </p:txBody>
      </p:sp>
      <p:pic>
        <p:nvPicPr>
          <p:cNvPr id="29" name="Picture 20" descr="IMG_256"/>
          <p:cNvPicPr>
            <a:picLocks noChangeAspect="1"/>
          </p:cNvPicPr>
          <p:nvPr/>
        </p:nvPicPr>
        <p:blipFill>
          <a:blip r:embed="rId1"/>
          <a:stretch>
            <a:fillRect/>
          </a:stretch>
        </p:blipFill>
        <p:spPr>
          <a:xfrm>
            <a:off x="2854960" y="1003935"/>
            <a:ext cx="6073140" cy="5163820"/>
          </a:xfrm>
          <a:prstGeom prst="rect">
            <a:avLst/>
          </a:prstGeom>
          <a:noFill/>
          <a:ln w="9525">
            <a:noFill/>
          </a:ln>
        </p:spPr>
      </p:pic>
      <p:sp>
        <p:nvSpPr>
          <p:cNvPr id="4" name="Text Box 3"/>
          <p:cNvSpPr txBox="1"/>
          <p:nvPr/>
        </p:nvSpPr>
        <p:spPr>
          <a:xfrm>
            <a:off x="600075" y="887095"/>
            <a:ext cx="4064000" cy="460375"/>
          </a:xfrm>
          <a:prstGeom prst="rect">
            <a:avLst/>
          </a:prstGeom>
          <a:noFill/>
        </p:spPr>
        <p:txBody>
          <a:bodyPr wrap="square" rtlCol="0">
            <a:spAutoFit/>
          </a:bodyPr>
          <a:lstStyle/>
          <a:p>
            <a:r>
              <a:rPr lang="en-US" altLang="en-GB" sz="2400">
                <a:latin typeface="Times New Roman" panose="02020603050405020304" charset="0"/>
                <a:cs typeface="Times New Roman" panose="02020603050405020304" charset="0"/>
              </a:rPr>
              <a:t>Activity Diagram for Login</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57200" y="175895"/>
            <a:ext cx="4064000" cy="400110"/>
          </a:xfrm>
          <a:prstGeom prst="rect">
            <a:avLst/>
          </a:prstGeom>
          <a:noFill/>
        </p:spPr>
        <p:txBody>
          <a:bodyPr wrap="square" rtlCol="0">
            <a:spAutoFit/>
          </a:bodyPr>
          <a:lstStyle/>
          <a:p>
            <a:r>
              <a:rPr lang="en-US" altLang="en-GB" dirty="0"/>
              <a:t> </a:t>
            </a:r>
            <a:r>
              <a:rPr lang="en-US" altLang="en-GB" sz="2000" b="1" dirty="0">
                <a:latin typeface="Times New Roman" panose="02020603050405020304" charset="0"/>
                <a:cs typeface="Times New Roman" panose="02020603050405020304" charset="0"/>
              </a:rPr>
              <a:t>Chapter three: System Design</a:t>
            </a:r>
            <a:endParaRPr lang="en-US" altLang="en-GB" sz="2000" b="1" dirty="0">
              <a:latin typeface="Times New Roman" panose="02020603050405020304" charset="0"/>
              <a:cs typeface="Times New Roman" panose="02020603050405020304" charset="0"/>
            </a:endParaRPr>
          </a:p>
        </p:txBody>
      </p:sp>
      <p:sp>
        <p:nvSpPr>
          <p:cNvPr id="5" name="Text Box 4"/>
          <p:cNvSpPr txBox="1"/>
          <p:nvPr/>
        </p:nvSpPr>
        <p:spPr>
          <a:xfrm>
            <a:off x="4521200" y="330200"/>
            <a:ext cx="5073015" cy="612140"/>
          </a:xfrm>
          <a:prstGeom prst="rect">
            <a:avLst/>
          </a:prstGeom>
          <a:noFill/>
        </p:spPr>
        <p:txBody>
          <a:bodyPr wrap="square" rtlCol="0">
            <a:noAutofit/>
          </a:bodyPr>
          <a:lstStyle/>
          <a:p>
            <a:r>
              <a:rPr lang="en-US" altLang="en-GB" sz="2000" b="1" dirty="0">
                <a:latin typeface="Times New Roman" panose="02020603050405020304" charset="0"/>
                <a:cs typeface="Times New Roman" panose="02020603050405020304" charset="0"/>
              </a:rPr>
              <a:t>Design Class Diagram</a:t>
            </a:r>
            <a:endParaRPr lang="en-US" altLang="en-GB" sz="2000" b="1" dirty="0">
              <a:latin typeface="Times New Roman" panose="02020603050405020304" charset="0"/>
              <a:cs typeface="Times New Roman" panose="02020603050405020304" charset="0"/>
            </a:endParaRPr>
          </a:p>
        </p:txBody>
      </p:sp>
      <p:pic>
        <p:nvPicPr>
          <p:cNvPr id="6" name="Picture 5" descr="IMG_256"/>
          <p:cNvPicPr/>
          <p:nvPr/>
        </p:nvPicPr>
        <p:blipFill>
          <a:blip r:embed="rId1"/>
          <a:stretch>
            <a:fillRect/>
          </a:stretch>
        </p:blipFill>
        <p:spPr>
          <a:xfrm>
            <a:off x="2212521" y="1006892"/>
            <a:ext cx="6826069" cy="640080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IMG_256"/>
          <p:cNvPicPr>
            <a:picLocks noChangeAspect="1"/>
          </p:cNvPicPr>
          <p:nvPr/>
        </p:nvPicPr>
        <p:blipFill>
          <a:blip r:embed="rId1"/>
          <a:stretch>
            <a:fillRect/>
          </a:stretch>
        </p:blipFill>
        <p:spPr>
          <a:xfrm>
            <a:off x="1682115" y="1026795"/>
            <a:ext cx="8724900" cy="5830570"/>
          </a:xfrm>
          <a:prstGeom prst="rect">
            <a:avLst/>
          </a:prstGeom>
          <a:noFill/>
          <a:ln w="9525">
            <a:noFill/>
          </a:ln>
        </p:spPr>
      </p:pic>
      <p:sp>
        <p:nvSpPr>
          <p:cNvPr id="2" name="Text Box 1"/>
          <p:cNvSpPr txBox="1"/>
          <p:nvPr/>
        </p:nvSpPr>
        <p:spPr>
          <a:xfrm>
            <a:off x="4148455" y="341630"/>
            <a:ext cx="4064000" cy="398780"/>
          </a:xfrm>
          <a:prstGeom prst="rect">
            <a:avLst/>
          </a:prstGeom>
          <a:noFill/>
        </p:spPr>
        <p:txBody>
          <a:bodyPr wrap="square" rtlCol="0">
            <a:spAutoFit/>
          </a:bodyPr>
          <a:p>
            <a:r>
              <a:rPr lang="en-US" altLang="en-GB" sz="2000" b="1">
                <a:latin typeface="Times New Roman" panose="02020603050405020304" charset="0"/>
                <a:cs typeface="Times New Roman" panose="02020603050405020304" charset="0"/>
              </a:rPr>
              <a:t>Databasedesign/Physicaldatamodel</a:t>
            </a:r>
            <a:endParaRPr lang="en-US" altLang="en-GB" sz="2000" b="1">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28345" y="719455"/>
            <a:ext cx="11156950" cy="368300"/>
          </a:xfrm>
          <a:prstGeom prst="rect">
            <a:avLst/>
          </a:prstGeom>
          <a:noFill/>
        </p:spPr>
        <p:txBody>
          <a:bodyPr wrap="square" rtlCol="0">
            <a:spAutoFit/>
          </a:bodyPr>
          <a:lstStyle/>
          <a:p>
            <a:r>
              <a:rPr lang="en-US" altLang="en-US" dirty="0"/>
              <a:t>                                                                                   </a:t>
            </a:r>
            <a:r>
              <a:rPr lang="en-US" b="1" dirty="0" smtClean="0"/>
              <a:t>View </a:t>
            </a:r>
            <a:r>
              <a:rPr lang="en-US" b="1" dirty="0"/>
              <a:t>schedule  Interface</a:t>
            </a:r>
            <a:endParaRPr lang="en-US" dirty="0"/>
          </a:p>
        </p:txBody>
      </p:sp>
      <p:pic>
        <p:nvPicPr>
          <p:cNvPr id="4" name="Picture 3"/>
          <p:cNvPicPr/>
          <p:nvPr/>
        </p:nvPicPr>
        <p:blipFill>
          <a:blip r:embed="rId1"/>
          <a:stretch>
            <a:fillRect/>
          </a:stretch>
        </p:blipFill>
        <p:spPr>
          <a:xfrm>
            <a:off x="2460567" y="1521230"/>
            <a:ext cx="6924501" cy="401504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16578" y="1281436"/>
            <a:ext cx="8009165" cy="3723005"/>
          </a:xfrm>
          <a:prstGeom prst="rect">
            <a:avLst/>
          </a:prstGeom>
        </p:spPr>
        <p:txBody>
          <a:bodyPr wrap="square">
            <a:spAutoFit/>
          </a:bodyPr>
          <a:lstStyle/>
          <a:p>
            <a:pPr>
              <a:lnSpc>
                <a:spcPct val="150000"/>
              </a:lnSpc>
            </a:pPr>
            <a:r>
              <a:rPr lang="en-US" sz="2000" b="1" dirty="0"/>
              <a:t>Tools Used to Build the System:</a:t>
            </a:r>
            <a:endParaRPr lang="en-US" sz="2000" b="1" dirty="0"/>
          </a:p>
          <a:p>
            <a:pPr>
              <a:lnSpc>
                <a:spcPct val="150000"/>
              </a:lnSpc>
            </a:pPr>
            <a:r>
              <a:rPr lang="en-US" sz="2000" b="1" dirty="0"/>
              <a:t>Front-End (What users see and interact with):</a:t>
            </a:r>
            <a:endParaRPr lang="en-US" sz="2000" dirty="0"/>
          </a:p>
          <a:p>
            <a:pPr lvl="1"/>
            <a:r>
              <a:rPr lang="en-US" sz="2000" dirty="0"/>
              <a:t>HTML – </a:t>
            </a:r>
            <a:endParaRPr lang="en-US" sz="2000" dirty="0"/>
          </a:p>
          <a:p>
            <a:pPr lvl="1"/>
            <a:r>
              <a:rPr lang="en-US" sz="2000" dirty="0"/>
              <a:t>CSS – </a:t>
            </a:r>
            <a:endParaRPr lang="en-US" sz="2000" dirty="0"/>
          </a:p>
          <a:p>
            <a:pPr lvl="1"/>
            <a:r>
              <a:rPr lang="en-US" sz="2000" dirty="0"/>
              <a:t>JavaScript – </a:t>
            </a:r>
            <a:endParaRPr lang="en-US" sz="2000" dirty="0"/>
          </a:p>
          <a:p>
            <a:pPr lvl="1"/>
            <a:r>
              <a:rPr lang="en-US" sz="2000" b="1" dirty="0"/>
              <a:t>Back-End (The brain behind the scenes):</a:t>
            </a:r>
            <a:endParaRPr lang="en-US" sz="2000" b="1" dirty="0"/>
          </a:p>
          <a:p>
            <a:pPr lvl="1"/>
            <a:r>
              <a:rPr lang="en-US" sz="2000" dirty="0"/>
              <a:t>PHP – </a:t>
            </a:r>
            <a:endParaRPr lang="en-US" sz="2000" dirty="0"/>
          </a:p>
          <a:p>
            <a:pPr lvl="1"/>
            <a:r>
              <a:rPr lang="en-US" sz="2000" dirty="0"/>
              <a:t>MySQL – </a:t>
            </a:r>
            <a:endParaRPr lang="en-US" sz="2000" dirty="0"/>
          </a:p>
          <a:p>
            <a:pPr lvl="1"/>
            <a:r>
              <a:rPr lang="en-US" sz="2000" dirty="0" err="1"/>
              <a:t>db_connection.php</a:t>
            </a:r>
            <a:r>
              <a:rPr lang="en-US" sz="2000" dirty="0"/>
              <a:t> –</a:t>
            </a:r>
            <a:endParaRPr lang="en-US" dirty="0"/>
          </a:p>
          <a:p>
            <a:pPr lvl="1"/>
            <a:endParaRPr lang="en-US" dirty="0" smtClean="0"/>
          </a:p>
          <a:p>
            <a:pPr lvl="1"/>
            <a:endParaRPr lang="en-US" dirty="0"/>
          </a:p>
        </p:txBody>
      </p:sp>
      <p:sp>
        <p:nvSpPr>
          <p:cNvPr id="3" name="Rectangle 2"/>
          <p:cNvSpPr/>
          <p:nvPr/>
        </p:nvSpPr>
        <p:spPr>
          <a:xfrm>
            <a:off x="2509157" y="506187"/>
            <a:ext cx="6096000" cy="706755"/>
          </a:xfrm>
          <a:prstGeom prst="rect">
            <a:avLst/>
          </a:prstGeom>
        </p:spPr>
        <p:txBody>
          <a:bodyPr>
            <a:spAutoFit/>
          </a:bodyPr>
          <a:lstStyle/>
          <a:p>
            <a:r>
              <a:rPr lang="en-US" sz="2000" b="1" dirty="0"/>
              <a:t>CHAPTER 4 :IMPLEMENTATION</a:t>
            </a:r>
            <a:endParaRPr lang="en-US" sz="2000" b="1" dirty="0"/>
          </a:p>
          <a:p>
            <a:r>
              <a:rPr lang="en-US" sz="2000" b="1" dirty="0"/>
              <a:t>Overview of the programming language used</a:t>
            </a:r>
            <a:endParaRPr lang="en-US" sz="20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0979" y="517463"/>
            <a:ext cx="2796065" cy="369332"/>
          </a:xfrm>
          <a:prstGeom prst="rect">
            <a:avLst/>
          </a:prstGeom>
        </p:spPr>
        <p:txBody>
          <a:bodyPr wrap="square">
            <a:spAutoFit/>
          </a:bodyPr>
          <a:lstStyle/>
          <a:p>
            <a:r>
              <a:rPr lang="en-US" b="1" dirty="0" smtClean="0"/>
              <a:t>4.2 </a:t>
            </a:r>
            <a:r>
              <a:rPr lang="en-US" b="1" dirty="0"/>
              <a:t>Algorithms</a:t>
            </a:r>
            <a:endParaRPr lang="en-US" dirty="0"/>
          </a:p>
        </p:txBody>
      </p:sp>
      <p:sp>
        <p:nvSpPr>
          <p:cNvPr id="3" name="Rectangle 2"/>
          <p:cNvSpPr/>
          <p:nvPr/>
        </p:nvSpPr>
        <p:spPr>
          <a:xfrm>
            <a:off x="2079625" y="1138555"/>
            <a:ext cx="5946140" cy="1004570"/>
          </a:xfrm>
          <a:prstGeom prst="rect">
            <a:avLst/>
          </a:prstGeom>
        </p:spPr>
        <p:txBody>
          <a:bodyPr>
            <a:noAutofit/>
          </a:bodyPr>
          <a:lstStyle/>
          <a:p>
            <a:r>
              <a:rPr lang="en-US" b="1" dirty="0"/>
              <a:t>1. </a:t>
            </a:r>
            <a:r>
              <a:rPr lang="en-US" sz="2000" dirty="0" smtClean="0">
                <a:latin typeface="Times New Roman" panose="02020603050405020304" charset="0"/>
                <a:cs typeface="Times New Roman" panose="02020603050405020304" charset="0"/>
              </a:rPr>
              <a:t>.</a:t>
            </a:r>
            <a:endParaRPr lang="en-US" sz="2000" dirty="0" smtClean="0">
              <a:latin typeface="Times New Roman" panose="02020603050405020304" charset="0"/>
              <a:cs typeface="Times New Roman" panose="02020603050405020304" charset="0"/>
            </a:endParaRPr>
          </a:p>
          <a:p>
            <a:r>
              <a:rPr lang="en-US" sz="2000" b="1" dirty="0" err="1">
                <a:latin typeface="Times New Roman" panose="02020603050405020304" charset="0"/>
                <a:cs typeface="Times New Roman" panose="02020603050405020304" charset="0"/>
                <a:sym typeface="+mn-ea"/>
              </a:rPr>
              <a:t>Bcrypt</a:t>
            </a:r>
            <a:r>
              <a:rPr lang="en-US" sz="2000" b="1" dirty="0">
                <a:latin typeface="Times New Roman" panose="02020603050405020304" charset="0"/>
                <a:cs typeface="Times New Roman" panose="02020603050405020304" charset="0"/>
                <a:sym typeface="+mn-ea"/>
              </a:rPr>
              <a:t> for Password Security</a:t>
            </a:r>
            <a:endParaRPr lang="en-US" sz="2000" b="1" dirty="0">
              <a:latin typeface="Times New Roman" panose="02020603050405020304" charset="0"/>
              <a:cs typeface="Times New Roman" panose="02020603050405020304" charset="0"/>
            </a:endParaRPr>
          </a:p>
          <a:p>
            <a:r>
              <a:rPr lang="en-US" sz="2000" dirty="0" smtClean="0">
                <a:latin typeface="Times New Roman" panose="02020603050405020304" charset="0"/>
                <a:cs typeface="Times New Roman" panose="02020603050405020304" charset="0"/>
                <a:sym typeface="+mn-ea"/>
              </a:rPr>
              <a:t>We </a:t>
            </a:r>
            <a:r>
              <a:rPr lang="en-US" sz="2000" dirty="0">
                <a:latin typeface="Times New Roman" panose="02020603050405020304" charset="0"/>
                <a:cs typeface="Times New Roman" panose="02020603050405020304" charset="0"/>
                <a:sym typeface="+mn-ea"/>
              </a:rPr>
              <a:t>use </a:t>
            </a:r>
            <a:r>
              <a:rPr lang="en-US" sz="2000" b="1" dirty="0" err="1">
                <a:latin typeface="Times New Roman" panose="02020603050405020304" charset="0"/>
                <a:cs typeface="Times New Roman" panose="02020603050405020304" charset="0"/>
                <a:sym typeface="+mn-ea"/>
              </a:rPr>
              <a:t>bcrypt</a:t>
            </a:r>
            <a:r>
              <a:rPr lang="en-US" sz="2000" dirty="0">
                <a:latin typeface="Times New Roman" panose="02020603050405020304" charset="0"/>
                <a:cs typeface="Times New Roman" panose="02020603050405020304" charset="0"/>
                <a:sym typeface="+mn-ea"/>
              </a:rPr>
              <a:t> to protect user passwords so no one can see or steal them — not even if the database is hacked</a:t>
            </a:r>
            <a:endParaRPr lang="en-US" sz="2000" b="1" dirty="0" smtClean="0">
              <a:latin typeface="Times New Roman" panose="02020603050405020304" charset="0"/>
              <a:cs typeface="Times New Roman" panose="02020603050405020304" charset="0"/>
            </a:endParaRPr>
          </a:p>
        </p:txBody>
      </p:sp>
      <p:sp>
        <p:nvSpPr>
          <p:cNvPr id="4" name="Rectangle 3"/>
          <p:cNvSpPr/>
          <p:nvPr/>
        </p:nvSpPr>
        <p:spPr>
          <a:xfrm>
            <a:off x="1999343" y="2204356"/>
            <a:ext cx="7214507" cy="1630045"/>
          </a:xfrm>
          <a:prstGeom prst="rect">
            <a:avLst/>
          </a:prstGeom>
        </p:spPr>
        <p:txBody>
          <a:bodyPr wrap="square">
            <a:spAutoFit/>
          </a:bodyPr>
          <a:lstStyle/>
          <a:p>
            <a:r>
              <a:rPr lang="en-US" sz="2000" b="1" dirty="0">
                <a:latin typeface="Times New Roman" panose="02020603050405020304" charset="0"/>
                <a:cs typeface="Times New Roman" panose="02020603050405020304" charset="0"/>
              </a:rPr>
              <a:t>How It </a:t>
            </a:r>
            <a:r>
              <a:rPr lang="en-US" sz="2000" b="1" dirty="0" smtClean="0">
                <a:latin typeface="Times New Roman" panose="02020603050405020304" charset="0"/>
                <a:cs typeface="Times New Roman" panose="02020603050405020304" charset="0"/>
              </a:rPr>
              <a:t>Works:</a:t>
            </a:r>
            <a:endParaRPr lang="en-US" sz="2000" b="1" dirty="0">
              <a:latin typeface="Times New Roman" panose="02020603050405020304" charset="0"/>
              <a:cs typeface="Times New Roman" panose="02020603050405020304" charset="0"/>
            </a:endParaRPr>
          </a:p>
          <a:p>
            <a:r>
              <a:rPr lang="en-US" sz="2000" b="1" dirty="0">
                <a:latin typeface="Times New Roman" panose="02020603050405020304" charset="0"/>
                <a:cs typeface="Times New Roman" panose="02020603050405020304" charset="0"/>
              </a:rPr>
              <a:t>PHP’s </a:t>
            </a:r>
            <a:r>
              <a:rPr lang="en-US" sz="2000" b="1" dirty="0" err="1">
                <a:latin typeface="Times New Roman" panose="02020603050405020304" charset="0"/>
                <a:cs typeface="Times New Roman" panose="02020603050405020304" charset="0"/>
              </a:rPr>
              <a:t>password_hash</a:t>
            </a:r>
            <a:r>
              <a:rPr lang="en-US" sz="2000" b="1" dirty="0">
                <a:latin typeface="Times New Roman" panose="02020603050405020304" charset="0"/>
                <a:cs typeface="Times New Roman" panose="02020603050405020304" charset="0"/>
              </a:rPr>
              <a:t>()</a:t>
            </a:r>
            <a:r>
              <a:rPr lang="en-US" sz="2000" dirty="0">
                <a:latin typeface="Times New Roman" panose="02020603050405020304" charset="0"/>
                <a:cs typeface="Times New Roman" panose="02020603050405020304" charset="0"/>
              </a:rPr>
              <a:t> turns the password into a secure code.</a:t>
            </a:r>
            <a:endParaRPr lang="en-US" sz="2000" dirty="0">
              <a:latin typeface="Times New Roman" panose="02020603050405020304" charset="0"/>
              <a:cs typeface="Times New Roman" panose="02020603050405020304" charset="0"/>
            </a:endParaRPr>
          </a:p>
          <a:p>
            <a:r>
              <a:rPr lang="en-US" sz="2000" b="1" dirty="0" err="1">
                <a:latin typeface="Times New Roman" panose="02020603050405020304" charset="0"/>
                <a:cs typeface="Times New Roman" panose="02020603050405020304" charset="0"/>
              </a:rPr>
              <a:t>password_verify</a:t>
            </a:r>
            <a:r>
              <a:rPr lang="en-US" sz="2000" b="1" dirty="0">
                <a:latin typeface="Times New Roman" panose="02020603050405020304" charset="0"/>
                <a:cs typeface="Times New Roman" panose="02020603050405020304" charset="0"/>
              </a:rPr>
              <a:t>()</a:t>
            </a:r>
            <a:r>
              <a:rPr lang="en-US" sz="2000" dirty="0">
                <a:latin typeface="Times New Roman" panose="02020603050405020304" charset="0"/>
                <a:cs typeface="Times New Roman" panose="02020603050405020304" charset="0"/>
              </a:rPr>
              <a:t> checks the code during login.</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The real password is </a:t>
            </a:r>
            <a:r>
              <a:rPr lang="en-US" sz="2000" b="1" dirty="0">
                <a:latin typeface="Times New Roman" panose="02020603050405020304" charset="0"/>
                <a:cs typeface="Times New Roman" panose="02020603050405020304" charset="0"/>
              </a:rPr>
              <a:t>never saved or sent</a:t>
            </a:r>
            <a:r>
              <a:rPr lang="en-US" sz="2000" dirty="0">
                <a:latin typeface="Times New Roman" panose="02020603050405020304" charset="0"/>
                <a:cs typeface="Times New Roman" panose="02020603050405020304" charset="0"/>
              </a:rPr>
              <a:t> anywhere</a:t>
            </a:r>
            <a:r>
              <a:rPr lang="en-US" sz="2000" dirty="0" smtClean="0">
                <a:latin typeface="Times New Roman" panose="02020603050405020304" charset="0"/>
                <a:cs typeface="Times New Roman" panose="02020603050405020304" charset="0"/>
              </a:rPr>
              <a:t>.</a:t>
            </a:r>
            <a:endParaRPr lang="en-US" sz="2000" dirty="0" smtClean="0">
              <a:latin typeface="Times New Roman" panose="02020603050405020304" charset="0"/>
              <a:cs typeface="Times New Roman" panose="02020603050405020304" charset="0"/>
            </a:endParaRPr>
          </a:p>
          <a:p>
            <a:endParaRPr lang="en-US" sz="2000" dirty="0" smtClean="0">
              <a:latin typeface="Times New Roman" panose="02020603050405020304" charset="0"/>
              <a:cs typeface="Times New Roman" panose="02020603050405020304" charset="0"/>
            </a:endParaRPr>
          </a:p>
        </p:txBody>
      </p:sp>
      <p:sp>
        <p:nvSpPr>
          <p:cNvPr id="5" name="Rectangle 4"/>
          <p:cNvSpPr/>
          <p:nvPr/>
        </p:nvSpPr>
        <p:spPr>
          <a:xfrm>
            <a:off x="1929493" y="3497017"/>
            <a:ext cx="9459686" cy="2553335"/>
          </a:xfrm>
          <a:prstGeom prst="rect">
            <a:avLst/>
          </a:prstGeom>
        </p:spPr>
        <p:txBody>
          <a:bodyPr wrap="square">
            <a:spAutoFit/>
          </a:bodyPr>
          <a:lstStyle/>
          <a:p>
            <a:r>
              <a:rPr lang="en-US" sz="2000" b="1" dirty="0">
                <a:latin typeface="Times New Roman" panose="02020603050405020304" charset="0"/>
                <a:cs typeface="Times New Roman" panose="02020603050405020304" charset="0"/>
              </a:rPr>
              <a:t>2. Schedule Conflict </a:t>
            </a:r>
            <a:r>
              <a:rPr lang="en-US" sz="2000" b="1" dirty="0" smtClean="0">
                <a:latin typeface="Times New Roman" panose="02020603050405020304" charset="0"/>
                <a:cs typeface="Times New Roman" panose="02020603050405020304" charset="0"/>
              </a:rPr>
              <a:t>Detection</a:t>
            </a:r>
            <a:endParaRPr lang="en-US" sz="2000" b="1" dirty="0" smtClean="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The system avoids double-booking rooms or teachers at the same time</a:t>
            </a:r>
            <a:r>
              <a:rPr lang="en-US" sz="2000" dirty="0" smtClean="0">
                <a:latin typeface="Times New Roman" panose="02020603050405020304" charset="0"/>
                <a:cs typeface="Times New Roman" panose="02020603050405020304" charset="0"/>
              </a:rPr>
              <a:t>.</a:t>
            </a:r>
            <a:endParaRPr lang="en-US" sz="2000" dirty="0" smtClean="0">
              <a:latin typeface="Times New Roman" panose="02020603050405020304" charset="0"/>
              <a:cs typeface="Times New Roman" panose="02020603050405020304" charset="0"/>
            </a:endParaRPr>
          </a:p>
          <a:p>
            <a:r>
              <a:rPr lang="en-US" sz="2000" b="1" dirty="0">
                <a:latin typeface="Times New Roman" panose="02020603050405020304" charset="0"/>
                <a:cs typeface="Times New Roman" panose="02020603050405020304" charset="0"/>
              </a:rPr>
              <a:t>How It Works:</a:t>
            </a:r>
            <a:endParaRPr lang="en-US" sz="2000" b="1"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When a new schedule is created, the system </a:t>
            </a:r>
            <a:r>
              <a:rPr lang="en-US" sz="2000" b="1" dirty="0">
                <a:latin typeface="Times New Roman" panose="02020603050405020304" charset="0"/>
                <a:cs typeface="Times New Roman" panose="02020603050405020304" charset="0"/>
              </a:rPr>
              <a:t>checks the database</a:t>
            </a:r>
            <a:r>
              <a:rPr lang="en-US" sz="2000" dirty="0">
                <a:latin typeface="Times New Roman" panose="02020603050405020304" charset="0"/>
                <a:cs typeface="Times New Roman" panose="02020603050405020304" charset="0"/>
              </a:rPr>
              <a:t> to see:</a:t>
            </a:r>
            <a:endParaRPr lang="en-US" sz="2000" dirty="0">
              <a:latin typeface="Times New Roman" panose="02020603050405020304" charset="0"/>
              <a:cs typeface="Times New Roman" panose="02020603050405020304" charset="0"/>
            </a:endParaRPr>
          </a:p>
          <a:p>
            <a:pPr lvl="1"/>
            <a:r>
              <a:rPr lang="en-US" sz="2000" dirty="0">
                <a:latin typeface="Times New Roman" panose="02020603050405020304" charset="0"/>
                <a:cs typeface="Times New Roman" panose="02020603050405020304" charset="0"/>
              </a:rPr>
              <a:t>Is this room already taken?</a:t>
            </a:r>
            <a:endParaRPr lang="en-US" sz="2000" dirty="0">
              <a:latin typeface="Times New Roman" panose="02020603050405020304" charset="0"/>
              <a:cs typeface="Times New Roman" panose="02020603050405020304" charset="0"/>
            </a:endParaRPr>
          </a:p>
          <a:p>
            <a:pPr lvl="1"/>
            <a:r>
              <a:rPr lang="en-US" sz="2000" dirty="0">
                <a:latin typeface="Times New Roman" panose="02020603050405020304" charset="0"/>
                <a:cs typeface="Times New Roman" panose="02020603050405020304" charset="0"/>
              </a:rPr>
              <a:t>Is this instructor already busy?</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If yes, it shows an error and stops the conflict.</a:t>
            </a:r>
            <a:endParaRPr lang="en-US" sz="2000"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2344" y="1571062"/>
            <a:ext cx="6365420" cy="1014730"/>
          </a:xfrm>
          <a:prstGeom prst="rect">
            <a:avLst/>
          </a:prstGeom>
        </p:spPr>
        <p:txBody>
          <a:bodyPr wrap="square">
            <a:spAutoFit/>
          </a:bodyPr>
          <a:lstStyle/>
          <a:p>
            <a:r>
              <a:rPr lang="en-US" sz="2000" b="1" dirty="0">
                <a:latin typeface="Times New Roman" panose="02020603050405020304" charset="0"/>
                <a:cs typeface="Times New Roman" panose="02020603050405020304" charset="0"/>
              </a:rPr>
              <a:t>3. Dynamic Filtering (Using JavaScript + AJAX)</a:t>
            </a:r>
            <a:endParaRPr lang="en-US" sz="2000" b="1" dirty="0">
              <a:latin typeface="Times New Roman" panose="02020603050405020304" charset="0"/>
              <a:cs typeface="Times New Roman" panose="02020603050405020304" charset="0"/>
            </a:endParaRPr>
          </a:p>
          <a:p>
            <a:r>
              <a:rPr lang="en-US" sz="2000" dirty="0" smtClean="0">
                <a:latin typeface="Times New Roman" panose="02020603050405020304" charset="0"/>
                <a:cs typeface="Times New Roman" panose="02020603050405020304" charset="0"/>
              </a:rPr>
              <a:t>Students </a:t>
            </a:r>
            <a:r>
              <a:rPr lang="en-US" sz="2000" dirty="0">
                <a:latin typeface="Times New Roman" panose="02020603050405020304" charset="0"/>
                <a:cs typeface="Times New Roman" panose="02020603050405020304" charset="0"/>
              </a:rPr>
              <a:t>and instructors can quickly </a:t>
            </a:r>
            <a:r>
              <a:rPr lang="en-US" sz="2000" b="1" dirty="0">
                <a:latin typeface="Times New Roman" panose="02020603050405020304" charset="0"/>
                <a:cs typeface="Times New Roman" panose="02020603050405020304" charset="0"/>
              </a:rPr>
              <a:t>filter schedules</a:t>
            </a:r>
            <a:r>
              <a:rPr lang="en-US" sz="2000" dirty="0">
                <a:latin typeface="Times New Roman" panose="02020603050405020304" charset="0"/>
                <a:cs typeface="Times New Roman" panose="02020603050405020304" charset="0"/>
              </a:rPr>
              <a:t> by department, batch, or section.</a:t>
            </a:r>
            <a:endParaRPr lang="en-US" sz="2000" dirty="0">
              <a:latin typeface="Times New Roman" panose="02020603050405020304" charset="0"/>
              <a:cs typeface="Times New Roman" panose="02020603050405020304" charset="0"/>
            </a:endParaRPr>
          </a:p>
        </p:txBody>
      </p:sp>
      <p:sp>
        <p:nvSpPr>
          <p:cNvPr id="5" name="Rectangle 4"/>
          <p:cNvSpPr/>
          <p:nvPr/>
        </p:nvSpPr>
        <p:spPr>
          <a:xfrm>
            <a:off x="2141764" y="2531924"/>
            <a:ext cx="6096000" cy="1938020"/>
          </a:xfrm>
          <a:prstGeom prst="rect">
            <a:avLst/>
          </a:prstGeom>
        </p:spPr>
        <p:txBody>
          <a:bodyPr>
            <a:spAutoFit/>
          </a:bodyPr>
          <a:lstStyle/>
          <a:p>
            <a:r>
              <a:rPr lang="en-US" sz="2000" b="1" dirty="0">
                <a:latin typeface="Times New Roman" panose="02020603050405020304" charset="0"/>
                <a:cs typeface="Times New Roman" panose="02020603050405020304" charset="0"/>
              </a:rPr>
              <a:t>How It Works:</a:t>
            </a:r>
            <a:endParaRPr lang="en-US" sz="2000" b="1"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When users choose a department or section:</a:t>
            </a:r>
            <a:endParaRPr lang="en-US" sz="2000" dirty="0">
              <a:latin typeface="Times New Roman" panose="02020603050405020304" charset="0"/>
              <a:cs typeface="Times New Roman" panose="02020603050405020304" charset="0"/>
            </a:endParaRPr>
          </a:p>
          <a:p>
            <a:pPr lvl="1"/>
            <a:r>
              <a:rPr lang="en-US" sz="2000" b="1" dirty="0">
                <a:latin typeface="Times New Roman" panose="02020603050405020304" charset="0"/>
                <a:cs typeface="Times New Roman" panose="02020603050405020304" charset="0"/>
              </a:rPr>
              <a:t>JavaScript</a:t>
            </a:r>
            <a:r>
              <a:rPr lang="en-US" sz="2000" dirty="0">
                <a:latin typeface="Times New Roman" panose="02020603050405020304" charset="0"/>
                <a:cs typeface="Times New Roman" panose="02020603050405020304" charset="0"/>
              </a:rPr>
              <a:t> and </a:t>
            </a:r>
            <a:r>
              <a:rPr lang="en-US" sz="2000" b="1" dirty="0">
                <a:latin typeface="Times New Roman" panose="02020603050405020304" charset="0"/>
                <a:cs typeface="Times New Roman" panose="02020603050405020304" charset="0"/>
              </a:rPr>
              <a:t>AJAX</a:t>
            </a:r>
            <a:r>
              <a:rPr lang="en-US" sz="2000" dirty="0">
                <a:latin typeface="Times New Roman" panose="02020603050405020304" charset="0"/>
                <a:cs typeface="Times New Roman" panose="02020603050405020304" charset="0"/>
              </a:rPr>
              <a:t> send a quick request in the background.</a:t>
            </a:r>
            <a:endParaRPr lang="en-US" sz="2000" dirty="0">
              <a:latin typeface="Times New Roman" panose="02020603050405020304" charset="0"/>
              <a:cs typeface="Times New Roman" panose="02020603050405020304" charset="0"/>
            </a:endParaRPr>
          </a:p>
          <a:p>
            <a:pPr lvl="1"/>
            <a:r>
              <a:rPr lang="en-US" sz="2000" dirty="0">
                <a:latin typeface="Times New Roman" panose="02020603050405020304" charset="0"/>
                <a:cs typeface="Times New Roman" panose="02020603050405020304" charset="0"/>
              </a:rPr>
              <a:t>The system updates the visible schedule without reloading the page.</a:t>
            </a:r>
            <a:endParaRPr lang="en-US" sz="2000" dirty="0">
              <a:latin typeface="Times New Roman" panose="02020603050405020304" charset="0"/>
              <a:cs typeface="Times New Roman" panose="02020603050405020304" charset="0"/>
            </a:endParaRPr>
          </a:p>
        </p:txBody>
      </p:sp>
      <p:sp>
        <p:nvSpPr>
          <p:cNvPr id="6" name="Text Box 8"/>
          <p:cNvSpPr txBox="1"/>
          <p:nvPr/>
        </p:nvSpPr>
        <p:spPr>
          <a:xfrm>
            <a:off x="3166609" y="579482"/>
            <a:ext cx="4691289" cy="523220"/>
          </a:xfrm>
          <a:prstGeom prst="rect">
            <a:avLst/>
          </a:prstGeom>
          <a:noFill/>
        </p:spPr>
        <p:txBody>
          <a:bodyPr wrap="square" rtlCol="0">
            <a:spAutoFit/>
          </a:bodyPr>
          <a:lstStyle/>
          <a:p>
            <a:r>
              <a:rPr lang="en-GB" altLang="en-US" sz="2800" dirty="0"/>
              <a:t>cont..</a:t>
            </a:r>
            <a:endParaRPr lang="en-GB"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2423" y="460313"/>
            <a:ext cx="2634054" cy="369332"/>
          </a:xfrm>
          <a:prstGeom prst="rect">
            <a:avLst/>
          </a:prstGeom>
        </p:spPr>
        <p:txBody>
          <a:bodyPr wrap="none">
            <a:spAutoFit/>
          </a:bodyPr>
          <a:lstStyle/>
          <a:p>
            <a:r>
              <a:rPr lang="en-US" b="1" dirty="0"/>
              <a:t>CHAPTER 5: TESTING</a:t>
            </a:r>
            <a:endParaRPr lang="en-US" b="1" dirty="0"/>
          </a:p>
        </p:txBody>
      </p:sp>
      <p:sp>
        <p:nvSpPr>
          <p:cNvPr id="3" name="Rectangle 2"/>
          <p:cNvSpPr/>
          <p:nvPr/>
        </p:nvSpPr>
        <p:spPr>
          <a:xfrm>
            <a:off x="2076450" y="1008787"/>
            <a:ext cx="6096000" cy="1938020"/>
          </a:xfrm>
          <a:prstGeom prst="rect">
            <a:avLst/>
          </a:prstGeom>
        </p:spPr>
        <p:txBody>
          <a:bodyPr>
            <a:spAutoFit/>
          </a:bodyPr>
          <a:lstStyle/>
          <a:p>
            <a:r>
              <a:rPr lang="en-US" sz="2000" dirty="0">
                <a:latin typeface="Times New Roman" panose="02020603050405020304" charset="0"/>
                <a:cs typeface="Times New Roman" panose="02020603050405020304" charset="0"/>
              </a:rPr>
              <a:t>In our case, we tested the </a:t>
            </a:r>
            <a:r>
              <a:rPr lang="en-US" sz="2000" b="1" dirty="0">
                <a:latin typeface="Times New Roman" panose="02020603050405020304" charset="0"/>
                <a:cs typeface="Times New Roman" panose="02020603050405020304" charset="0"/>
              </a:rPr>
              <a:t>Class Scheduling System</a:t>
            </a:r>
            <a:r>
              <a:rPr lang="en-US" sz="2000" dirty="0">
                <a:latin typeface="Times New Roman" panose="02020603050405020304" charset="0"/>
                <a:cs typeface="Times New Roman" panose="02020603050405020304" charset="0"/>
              </a:rPr>
              <a:t> to make sure it:</a:t>
            </a:r>
            <a:endParaRPr lang="en-US"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000" dirty="0">
                <a:latin typeface="Times New Roman" panose="02020603050405020304" charset="0"/>
                <a:cs typeface="Times New Roman" panose="02020603050405020304" charset="0"/>
              </a:rPr>
              <a:t>Works as expected,</a:t>
            </a:r>
            <a:endParaRPr lang="en-US"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000" dirty="0">
                <a:latin typeface="Times New Roman" panose="02020603050405020304" charset="0"/>
                <a:cs typeface="Times New Roman" panose="02020603050405020304" charset="0"/>
              </a:rPr>
              <a:t>Doesn’t crash,</a:t>
            </a:r>
            <a:endParaRPr lang="en-US"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000" dirty="0">
                <a:latin typeface="Times New Roman" panose="02020603050405020304" charset="0"/>
                <a:cs typeface="Times New Roman" panose="02020603050405020304" charset="0"/>
              </a:rPr>
              <a:t>Gives correct results,</a:t>
            </a:r>
            <a:endParaRPr lang="en-US" sz="2000"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2000" dirty="0">
                <a:latin typeface="Times New Roman" panose="02020603050405020304" charset="0"/>
                <a:cs typeface="Times New Roman" panose="02020603050405020304" charset="0"/>
              </a:rPr>
              <a:t>Is safe and easy to use.</a:t>
            </a:r>
            <a:endParaRPr lang="en-US" sz="2000" dirty="0">
              <a:latin typeface="Times New Roman" panose="02020603050405020304" charset="0"/>
              <a:cs typeface="Times New Roman" panose="02020603050405020304" charset="0"/>
            </a:endParaRPr>
          </a:p>
        </p:txBody>
      </p:sp>
      <p:sp>
        <p:nvSpPr>
          <p:cNvPr id="4" name="Rectangle 3"/>
          <p:cNvSpPr/>
          <p:nvPr/>
        </p:nvSpPr>
        <p:spPr>
          <a:xfrm>
            <a:off x="2076450" y="2886478"/>
            <a:ext cx="6096000" cy="1322070"/>
          </a:xfrm>
          <a:prstGeom prst="rect">
            <a:avLst/>
          </a:prstGeom>
        </p:spPr>
        <p:txBody>
          <a:bodyPr>
            <a:spAutoFit/>
          </a:bodyPr>
          <a:lstStyle/>
          <a:p>
            <a:r>
              <a:rPr lang="en-US" sz="2000" b="1" dirty="0">
                <a:latin typeface="Times New Roman" panose="02020603050405020304" charset="0"/>
                <a:cs typeface="Times New Roman" panose="02020603050405020304" charset="0"/>
              </a:rPr>
              <a:t>1</a:t>
            </a:r>
            <a:r>
              <a:rPr lang="en-US" sz="2000" dirty="0">
                <a:latin typeface="Times New Roman" panose="02020603050405020304" charset="0"/>
                <a:cs typeface="Times New Roman" panose="02020603050405020304" charset="0"/>
              </a:rPr>
              <a:t>. </a:t>
            </a:r>
            <a:r>
              <a:rPr lang="en-US" sz="2000" b="1" dirty="0">
                <a:latin typeface="Times New Roman" panose="02020603050405020304" charset="0"/>
                <a:cs typeface="Times New Roman" panose="02020603050405020304" charset="0"/>
              </a:rPr>
              <a:t>Login Test </a:t>
            </a:r>
            <a:r>
              <a:rPr lang="en-US" sz="2000" dirty="0">
                <a:latin typeface="Times New Roman" panose="02020603050405020304" charset="0"/>
                <a:cs typeface="Times New Roman" panose="02020603050405020304" charset="0"/>
              </a:rPr>
              <a:t>(User Authentication)</a:t>
            </a:r>
            <a:endParaRPr lang="en-US" sz="2000" dirty="0">
              <a:latin typeface="Times New Roman" panose="02020603050405020304" charset="0"/>
              <a:cs typeface="Times New Roman" panose="02020603050405020304" charset="0"/>
            </a:endParaRPr>
          </a:p>
          <a:p>
            <a:r>
              <a:rPr lang="en-US" sz="2000" dirty="0" smtClean="0">
                <a:latin typeface="Times New Roman" panose="02020603050405020304" charset="0"/>
                <a:cs typeface="Times New Roman" panose="02020603050405020304" charset="0"/>
              </a:rPr>
              <a:t> </a:t>
            </a:r>
            <a:r>
              <a:rPr lang="en-US" sz="2000" dirty="0">
                <a:latin typeface="Times New Roman" panose="02020603050405020304" charset="0"/>
                <a:cs typeface="Times New Roman" panose="02020603050405020304" charset="0"/>
              </a:rPr>
              <a:t>What We Tested:</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Can an admin log in with correct username/password?</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What happens with the wrong password?</a:t>
            </a:r>
            <a:endParaRPr lang="en-US" sz="2400" dirty="0">
              <a:latin typeface="Times New Roman" panose="02020603050405020304" charset="0"/>
              <a:cs typeface="Times New Roman" panose="02020603050405020304" charset="0"/>
            </a:endParaRPr>
          </a:p>
        </p:txBody>
      </p:sp>
      <p:sp>
        <p:nvSpPr>
          <p:cNvPr id="5" name="Rectangle 4"/>
          <p:cNvSpPr/>
          <p:nvPr/>
        </p:nvSpPr>
        <p:spPr>
          <a:xfrm>
            <a:off x="2076450" y="4517694"/>
            <a:ext cx="6096000" cy="1322070"/>
          </a:xfrm>
          <a:prstGeom prst="rect">
            <a:avLst/>
          </a:prstGeom>
        </p:spPr>
        <p:txBody>
          <a:bodyPr>
            <a:spAutoFit/>
          </a:bodyPr>
          <a:lstStyle/>
          <a:p>
            <a:r>
              <a:rPr lang="en-US" sz="2000" b="1" dirty="0" smtClean="0">
                <a:latin typeface="Times New Roman" panose="02020603050405020304" charset="0"/>
                <a:cs typeface="Times New Roman" panose="02020603050405020304" charset="0"/>
              </a:rPr>
              <a:t>2. Schedule </a:t>
            </a:r>
            <a:r>
              <a:rPr lang="en-US" sz="2000" b="1" dirty="0">
                <a:latin typeface="Times New Roman" panose="02020603050405020304" charset="0"/>
                <a:cs typeface="Times New Roman" panose="02020603050405020304" charset="0"/>
              </a:rPr>
              <a:t>Creation Test</a:t>
            </a:r>
            <a:endParaRPr lang="en-US" sz="2000" b="1" dirty="0">
              <a:latin typeface="Times New Roman" panose="02020603050405020304" charset="0"/>
              <a:cs typeface="Times New Roman" panose="02020603050405020304" charset="0"/>
            </a:endParaRPr>
          </a:p>
          <a:p>
            <a:r>
              <a:rPr lang="en-US" sz="2000" dirty="0" smtClean="0">
                <a:latin typeface="Times New Roman" panose="02020603050405020304" charset="0"/>
                <a:cs typeface="Times New Roman" panose="02020603050405020304" charset="0"/>
              </a:rPr>
              <a:t>What </a:t>
            </a:r>
            <a:r>
              <a:rPr lang="en-US" sz="2000" dirty="0">
                <a:latin typeface="Times New Roman" panose="02020603050405020304" charset="0"/>
                <a:cs typeface="Times New Roman" panose="02020603050405020304" charset="0"/>
              </a:rPr>
              <a:t>We Tested:</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Can the system create a new class schedule?</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Does it prevent double-booking?</a:t>
            </a:r>
            <a:endParaRPr lang="en-US" sz="2000" dirty="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25435" y="1440714"/>
            <a:ext cx="6096000" cy="1198880"/>
          </a:xfrm>
          <a:prstGeom prst="rect">
            <a:avLst/>
          </a:prstGeom>
        </p:spPr>
        <p:txBody>
          <a:bodyPr>
            <a:spAutoFit/>
          </a:bodyPr>
          <a:lstStyle/>
          <a:p>
            <a:r>
              <a:rPr lang="en-US" b="1" dirty="0">
                <a:latin typeface="Times New Roman" panose="02020603050405020304" charset="0"/>
                <a:cs typeface="Times New Roman" panose="02020603050405020304" charset="0"/>
              </a:rPr>
              <a:t>3. Public Schedule Viewing Test</a:t>
            </a:r>
            <a:endParaRPr lang="en-US" b="1" dirty="0">
              <a:latin typeface="Times New Roman" panose="02020603050405020304" charset="0"/>
              <a:cs typeface="Times New Roman" panose="02020603050405020304" charset="0"/>
            </a:endParaRPr>
          </a:p>
          <a:p>
            <a:r>
              <a:rPr lang="en-US" dirty="0" smtClean="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What We Tested:</a:t>
            </a:r>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Can users filter and view schedules by department, batch, and section?</a:t>
            </a:r>
            <a:endParaRPr lang="en-US" dirty="0">
              <a:latin typeface="Times New Roman" panose="02020603050405020304" charset="0"/>
              <a:cs typeface="Times New Roman" panose="02020603050405020304" charset="0"/>
            </a:endParaRPr>
          </a:p>
        </p:txBody>
      </p:sp>
      <p:sp>
        <p:nvSpPr>
          <p:cNvPr id="3" name="Rectangle 2"/>
          <p:cNvSpPr/>
          <p:nvPr/>
        </p:nvSpPr>
        <p:spPr>
          <a:xfrm>
            <a:off x="2125435" y="2640763"/>
            <a:ext cx="6096000" cy="1014730"/>
          </a:xfrm>
          <a:prstGeom prst="rect">
            <a:avLst/>
          </a:prstGeom>
        </p:spPr>
        <p:txBody>
          <a:bodyPr>
            <a:spAutoFit/>
          </a:bodyPr>
          <a:lstStyle/>
          <a:p>
            <a:r>
              <a:rPr lang="en-US" sz="2000" b="1" dirty="0">
                <a:latin typeface="Times New Roman" panose="02020603050405020304" charset="0"/>
                <a:cs typeface="Times New Roman" panose="02020603050405020304" charset="0"/>
              </a:rPr>
              <a:t>4. Feedback Submission Test</a:t>
            </a:r>
            <a:endParaRPr lang="en-US" sz="2000" b="1" dirty="0">
              <a:latin typeface="Times New Roman" panose="02020603050405020304" charset="0"/>
              <a:cs typeface="Times New Roman" panose="02020603050405020304" charset="0"/>
            </a:endParaRPr>
          </a:p>
          <a:p>
            <a:r>
              <a:rPr lang="en-US" sz="2000" dirty="0" smtClean="0">
                <a:latin typeface="Times New Roman" panose="02020603050405020304" charset="0"/>
                <a:cs typeface="Times New Roman" panose="02020603050405020304" charset="0"/>
              </a:rPr>
              <a:t> </a:t>
            </a:r>
            <a:r>
              <a:rPr lang="en-US" sz="2000" dirty="0">
                <a:latin typeface="Times New Roman" panose="02020603050405020304" charset="0"/>
                <a:cs typeface="Times New Roman" panose="02020603050405020304" charset="0"/>
              </a:rPr>
              <a:t>What We Tested:</a:t>
            </a:r>
            <a:endParaRPr lang="en-US" sz="2000" dirty="0">
              <a:latin typeface="Times New Roman" panose="02020603050405020304" charset="0"/>
              <a:cs typeface="Times New Roman" panose="02020603050405020304" charset="0"/>
            </a:endParaRPr>
          </a:p>
          <a:p>
            <a:r>
              <a:rPr lang="en-US" sz="2000" dirty="0">
                <a:latin typeface="Times New Roman" panose="02020603050405020304" charset="0"/>
                <a:cs typeface="Times New Roman" panose="02020603050405020304" charset="0"/>
              </a:rPr>
              <a:t>Can a student send feedback?</a:t>
            </a:r>
            <a:endParaRPr lang="en-US" sz="2000" dirty="0">
              <a:latin typeface="Times New Roman" panose="02020603050405020304" charset="0"/>
              <a:cs typeface="Times New Roman" panose="02020603050405020304" charset="0"/>
            </a:endParaRPr>
          </a:p>
        </p:txBody>
      </p:sp>
      <p:sp>
        <p:nvSpPr>
          <p:cNvPr id="5" name="Text Box 8"/>
          <p:cNvSpPr txBox="1"/>
          <p:nvPr/>
        </p:nvSpPr>
        <p:spPr>
          <a:xfrm>
            <a:off x="2954338" y="563677"/>
            <a:ext cx="4691289" cy="523220"/>
          </a:xfrm>
          <a:prstGeom prst="rect">
            <a:avLst/>
          </a:prstGeom>
          <a:noFill/>
        </p:spPr>
        <p:txBody>
          <a:bodyPr wrap="square" rtlCol="0">
            <a:spAutoFit/>
          </a:bodyPr>
          <a:lstStyle/>
          <a:p>
            <a:r>
              <a:rPr lang="en-GB" altLang="en-US" sz="2800" dirty="0"/>
              <a:t>cont..</a:t>
            </a:r>
            <a:endParaRPr lang="en-GB" altLang="en-US" sz="2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11447</Words>
  <Application>WPS Presentation</Application>
  <PresentationFormat>Custom</PresentationFormat>
  <Paragraphs>378</Paragraphs>
  <Slides>35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Arial</vt:lpstr>
      <vt:lpstr>SimSun</vt:lpstr>
      <vt:lpstr>Wingdings</vt:lpstr>
      <vt:lpstr>Symbol</vt:lpstr>
      <vt:lpstr>Times New Roman</vt:lpstr>
      <vt:lpstr>Wingdings</vt:lpstr>
      <vt:lpstr>Candara</vt:lpstr>
      <vt:lpstr>Microsoft YaHei</vt:lpstr>
      <vt:lpstr>Arial Unicode MS</vt:lpstr>
      <vt:lpstr>Calibri</vt:lpstr>
      <vt:lpstr>Waveform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Web-Based Class Scheduling for DMU Bure Campus</dc:title>
  <dc:creator>Exit</dc:creator>
  <cp:lastModifiedBy>Kidan</cp:lastModifiedBy>
  <cp:revision>49</cp:revision>
  <dcterms:created xsi:type="dcterms:W3CDTF">2025-03-20T13:49:00Z</dcterms:created>
  <dcterms:modified xsi:type="dcterms:W3CDTF">2025-05-19T00:24:10Z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D387B1F28CDD4B8EB6ECD2A0F2FBF7C7_13</vt:lpwstr>
  </property>
  <property fmtid="{D5CDD505-2E9C-101B-9397-08002B2CF9AE}" pid="3" name="KSOProductBuildVer">
    <vt:lpwstr>2057-12.2.0.21179</vt:lpwstr>
  </property>
</Properties>
</file>